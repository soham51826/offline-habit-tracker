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Soham (C096)</a:t>
            </a:r>
          </a:p>
          <a:p>
            <a:r>
              <a:t>Target Time: ~1 min 15 sec</a:t>
            </a:r>
          </a:p>
          <a:p/>
          <a:p>
            <a:r>
              <a:t>Verbatim Script:</a:t>
            </a:r>
          </a:p>
          <a:p>
            <a:r>
              <a:t>Respected faculty and fellow classmates, good morning. Welcome to our Mobile Application Development presentation. Today, our team—Aman, Arsh, and myself, Soham—is proud to present our project: an Offline-First Habit Tracker powered by Local Rule-Based Behavioral Insights. I will cover our problem domain and conceptual foundation; Aman will walk through our layered MVVM architecture, SQLite schema, and WorkManager background services; and Arsh will demonstrate our behavioral heuristics engine, visual progress charts, and verification suite. Let us begin by examining why current habit tracking software fails modern users.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Soham (C096)</a:t>
            </a:r>
          </a:p>
          <a:p>
            <a:r>
              <a:t>Target Time: ~1 min 10 sec</a:t>
            </a:r>
          </a:p>
          <a:p/>
          <a:p>
            <a:r>
              <a:t>Verbatim Script:</a:t>
            </a:r>
          </a:p>
          <a:p>
            <a:r>
              <a:t>When surveying commercial habit trackers on the Play Store, we found three fatal flaws. First is privacy: personal habits reflect our most intimate routines, yet apps force cloud logins and send telemetry to ad networks. Second is offline fragility: people build habits in gym basements, during flights, or on commutes where mobile networks drop, yet cloud apps freeze with spinners. Third, and most crucially, existing apps are passive: they act as dumb digital checklists. When you miss a habit on Saturday, they simply show a broken red cross, triggering psychological defeat. Our goal was to design an application that is completely private, latency-free, and actively intelligent.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Soham (C096)</a:t>
            </a:r>
          </a:p>
          <a:p>
            <a:r>
              <a:t>Target Time: ~1 min 10 sec</a:t>
            </a:r>
          </a:p>
          <a:p/>
          <a:p>
            <a:r>
              <a:t>Verbatim Script:</a:t>
            </a:r>
          </a:p>
          <a:p>
            <a:r>
              <a:t>Our solution resolves these vulnerabilities through three foundational pillars. Pillar one is absolute local sovereignty: by embedding SQLite directly inside the mobile runtime, every read, write, and streak calculation executes in sub-milliseconds with zero cloud transmission. Pillar two is our rule-based behavioral analytics engine: rather than relying on expensive or unpredictable cloud LLM APIs, we codified established behavioral psychology principles into deterministic local heuristics that identify anchor habits and weekend slumps. Finally, pillar three is our background guardian powered by Android WorkManager, which opportunistically protects active streaks before midnight. I will now hand over to Aman to detail our technical stack and database design.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Aman (C106)</a:t>
            </a:r>
          </a:p>
          <a:p>
            <a:r>
              <a:t>Target Time: ~1 min 15 sec</a:t>
            </a:r>
          </a:p>
          <a:p/>
          <a:p>
            <a:r>
              <a:t>Verbatim Script:</a:t>
            </a:r>
          </a:p>
          <a:p>
            <a:r>
              <a:t>Thank you, Soham. Respected faculty, I will now present our technical architecture. We implemented a strict layered MVVM pattern using Flutter and Provider. At the top is our Presentation Layer, housing lean widgets and ViewModels that expose immutable state snapshots. Below that is our Domain Layer, containing our pure behavioral calculation engine—completely free of UI dependencies. The Data Layer implements the Repository Pattern on top of SQLite, ensuring single-source-of-truth data integrity. By compiling directly to native Android code and avoiding remote web servers, our app achieves sub-millisecond query execution and zero battery drain from idle network polling.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Aman (C106)</a:t>
            </a:r>
          </a:p>
          <a:p>
            <a:r>
              <a:t>Target Time: ~1 min 15 sec</a:t>
            </a:r>
          </a:p>
          <a:p/>
          <a:p>
            <a:r>
              <a:t>Verbatim Script:</a:t>
            </a:r>
          </a:p>
          <a:p>
            <a:r>
              <a:t>A production-grade offline application depends entirely on its relational schema. In our SQLite implementation, we designed three core tables: habits, habit_logs, and behavioral_insights. Notice the UNIQUE(habit_id, date) constraint on habit_logs: this prevents duplicate entries and ensures idempotency during rapid UI toggling. Furthermore, we established a foreign key on anchor_habit_id within the habits table itself, enabling habit stacking. To ensure our 30-day analytics and heatmaps render at 60 FPS without frame skips, we built compound B-Tree indexes on (habit_id, date). All queries execute in under 4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Aman (C106)</a:t>
            </a:r>
          </a:p>
          <a:p>
            <a:r>
              <a:t>Target Time: ~1 min 10 sec</a:t>
            </a:r>
          </a:p>
          <a:p/>
          <a:p>
            <a:r>
              <a:t>Verbatim Script:</a:t>
            </a:r>
          </a:p>
          <a:p>
            <a:r>
              <a:t>One of our biggest engineering hurdles was maintaining reliable background execution without draining battery or violating Android 13+ background execution limits. We leveraged the native Android WorkManager API via Flutter's callback dispatcher. Every few hours, WorkManager spins up a background Dart isolate, opens our local SQLite database, and queries whether scheduled habits remain unfinished. If the user possesses an active 3-day streak and the clock passes 6:00 PM, the engine automatically fires a local notification to protect that streak. I will now hand over to Arsh to present our behavioral analytics engine and UI analytics.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Arsh (C109)</a:t>
            </a:r>
          </a:p>
          <a:p>
            <a:r>
              <a:t>Target Time: ~1 min 20 sec</a:t>
            </a:r>
          </a:p>
          <a:p/>
          <a:p>
            <a:r>
              <a:t>Verbatim Script:</a:t>
            </a:r>
          </a:p>
          <a:p>
            <a:r>
              <a:t>Thank you, Aman. Good morning everyone. I will now present the brain of our application: the Rule-Based Behavioral Analytics Engine. Instead of treating habits as passive numbers, our engine implements four core behavioral psychology heuristics. First is James Clear's 'Habit Stacking': the engine scans historical logs to identify anchor habits with over 75% consistency—like morning coffee—and algorithmically prompts you to attach struggling habits directly to them. Second is BJ Fogg's 'Weekend Slump Detector': when weekday adherence is high but weekend consistency drops by over 25%, it prescribes a 'Minimum Viable Habit' scale-down. Third is Circadian Friction Analysis, which pinpoints ego depletion. Finally, our 'Never Miss Twice' rule flags any missed habit from yesterday for immediate morning recovery. All of this runs completely on-device.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Arsh (C109)</a:t>
            </a:r>
          </a:p>
          <a:p>
            <a:r>
              <a:t>Target Time: ~1 min 15 sec</a:t>
            </a:r>
          </a:p>
          <a:p/>
          <a:p>
            <a:r>
              <a:t>Verbatim Script:</a:t>
            </a:r>
          </a:p>
          <a:p>
            <a:r>
              <a:t>A behavioral engine is only as effective as the user interface delivering it. On screen, you see our three primary user views. The Dashboard provides a clean horizontal calendar strip, a daily completion ring, and flame streak badges with tactile one-tap toggling. Tapping any habit allows the user to record mood ratings from 1 to 5 and reflection notes. In the Insights tab, the user receives an overall Habit Health Index from 0 to 100 alongside categorized cards detailing the exact psychological principle and an actionable micro-step. Finally, in our Analytics screen powered by fl_chart, users can inspect their 7-day completion rates, category distribution, and a 28-day GitHub-style activity heatmap.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Arsh (C109)</a:t>
            </a:r>
          </a:p>
          <a:p>
            <a:r>
              <a:t>Target Time: ~1 min 15 sec</a:t>
            </a:r>
          </a:p>
          <a:p/>
          <a:p>
            <a:r>
              <a:t>Verbatim Script:</a:t>
            </a:r>
          </a:p>
          <a:p>
            <a:r>
              <a:t>To conclude, our system was rigorously verified. We wrote automated unit test suites covering streak calculations, habit stacking detection, weekend slump ratios, and JSON serialization—achieving a 100% pass rate with zero dart analyze lint errors. We overcame significant hurdles regarding background isolate memory sharing in WorkManager and custom frequency streak algorithms. Looking forward, our architecture is primed for integrating on-device quantized Small Language Models like Gemma 2B via MediaPipe for conversational coaching without sacrificing user privacy. Our team—Soham, Aman, and myself—thank you for your time. We now welcome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1005840"/>
          </a:xfrm>
          <a:prstGeom prst="rect">
            <a:avLst/>
          </a:prstGeom>
          <a:noFill/>
        </p:spPr>
        <p:txBody>
          <a:bodyPr wrap="square" lIns="0" tIns="0" rIns="0" bIns="0">
            <a:spAutoFit/>
          </a:bodyPr>
          <a:lstStyle/>
          <a:p>
            <a:pPr>
              <a:defRPr b="1" sz="2200">
                <a:solidFill>
                  <a:srgbClr val="F8FAFC"/>
                </a:solidFill>
                <a:latin typeface="Arial"/>
              </a:defRPr>
            </a:pPr>
            <a:r>
              <a:t>Offline-First Habit Tracker with Local Behavioral Insights</a:t>
            </a:r>
          </a:p>
          <a:p>
            <a:pPr>
              <a:spcBef>
                <a:spcPts val="300"/>
              </a:spcBef>
              <a:defRPr sz="1200">
                <a:solidFill>
                  <a:srgbClr val="94A3B8"/>
                </a:solidFill>
                <a:latin typeface="Arial"/>
              </a:defRPr>
            </a:pPr>
            <a:r>
              <a:t>Mobile Application Development (MAD) Capstone Presentation</a:t>
            </a:r>
          </a:p>
        </p:txBody>
      </p:sp>
      <p:sp>
        <p:nvSpPr>
          <p:cNvPr id="4" name="Rounded Rectangle 3"/>
          <p:cNvSpPr/>
          <p:nvPr/>
        </p:nvSpPr>
        <p:spPr>
          <a:xfrm>
            <a:off x="8686800" y="411480"/>
            <a:ext cx="2743200" cy="384048"/>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3B82F6"/>
                </a:solidFill>
                <a:latin typeface="Arial"/>
              </a:defRPr>
            </a:pPr>
            <a:r>
              <a:t>🎤 Soham (Roll No: C096)</a:t>
            </a:r>
          </a:p>
        </p:txBody>
      </p:sp>
      <p:sp>
        <p:nvSpPr>
          <p:cNvPr id="5" name="Rounded Rectangle 4"/>
          <p:cNvSpPr/>
          <p:nvPr/>
        </p:nvSpPr>
        <p:spPr>
          <a:xfrm>
            <a:off x="731520" y="1554480"/>
            <a:ext cx="3413455" cy="347472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b="1" sz="1300">
                <a:solidFill>
                  <a:srgbClr val="3B82F6"/>
                </a:solidFill>
                <a:latin typeface="Arial"/>
              </a:defRPr>
            </a:pPr>
            <a:r>
              <a:t>Soham (C096)</a:t>
            </a:r>
          </a:p>
          <a:p>
            <a:pPr>
              <a:spcBef>
                <a:spcPts val="300"/>
              </a:spcBef>
              <a:defRPr sz="1000">
                <a:solidFill>
                  <a:srgbClr val="94A3B8"/>
                </a:solidFill>
                <a:latin typeface="Arial"/>
              </a:defRPr>
            </a:pPr>
            <a:r>
              <a:t>• Role: Motivation, Problem Domain &amp; System Vision</a:t>
            </a:r>
          </a:p>
          <a:p>
            <a:pPr>
              <a:spcBef>
                <a:spcPts val="300"/>
              </a:spcBef>
              <a:defRPr sz="1000">
                <a:solidFill>
                  <a:srgbClr val="94A3B8"/>
                </a:solidFill>
                <a:latin typeface="Arial"/>
              </a:defRPr>
            </a:pPr>
            <a:r>
              <a:t>• Presenting: Slides 1 to 3</a:t>
            </a:r>
          </a:p>
          <a:p>
            <a:pPr>
              <a:spcBef>
                <a:spcPts val="300"/>
              </a:spcBef>
              <a:defRPr sz="1000">
                <a:solidFill>
                  <a:srgbClr val="94A3B8"/>
                </a:solidFill>
                <a:latin typeface="Arial"/>
              </a:defRPr>
            </a:pPr>
            <a:r>
              <a:t>• Focus: Privacy Sovereign Architecture &amp; Cognitive Nudges</a:t>
            </a:r>
          </a:p>
          <a:p>
            <a:pPr>
              <a:spcBef>
                <a:spcPts val="300"/>
              </a:spcBef>
              <a:defRPr sz="1000">
                <a:solidFill>
                  <a:srgbClr val="94A3B8"/>
                </a:solidFill>
                <a:latin typeface="Arial"/>
              </a:defRPr>
            </a:pPr>
            <a:r>
              <a:t>• Core Deliverable: Problem Formalization &amp; Strategy</a:t>
            </a:r>
          </a:p>
        </p:txBody>
      </p:sp>
      <p:sp>
        <p:nvSpPr>
          <p:cNvPr id="6" name="Rounded Rectangle 5"/>
          <p:cNvSpPr/>
          <p:nvPr/>
        </p:nvSpPr>
        <p:spPr>
          <a:xfrm>
            <a:off x="4389120" y="1554480"/>
            <a:ext cx="3413455" cy="34747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b="1" sz="1300">
                <a:solidFill>
                  <a:srgbClr val="10B981"/>
                </a:solidFill>
                <a:latin typeface="Arial"/>
              </a:defRPr>
            </a:pPr>
            <a:r>
              <a:t>Aman (C106)</a:t>
            </a:r>
          </a:p>
          <a:p>
            <a:pPr>
              <a:spcBef>
                <a:spcPts val="300"/>
              </a:spcBef>
              <a:defRPr sz="1000">
                <a:solidFill>
                  <a:srgbClr val="94A3B8"/>
                </a:solidFill>
                <a:latin typeface="Arial"/>
              </a:defRPr>
            </a:pPr>
            <a:r>
              <a:t>• Role: Architecture, SQLite Schema &amp; Android Services</a:t>
            </a:r>
          </a:p>
          <a:p>
            <a:pPr>
              <a:spcBef>
                <a:spcPts val="300"/>
              </a:spcBef>
              <a:defRPr sz="1000">
                <a:solidFill>
                  <a:srgbClr val="94A3B8"/>
                </a:solidFill>
                <a:latin typeface="Arial"/>
              </a:defRPr>
            </a:pPr>
            <a:r>
              <a:t>• Presenting: Slides 4 to 6</a:t>
            </a:r>
          </a:p>
          <a:p>
            <a:pPr>
              <a:spcBef>
                <a:spcPts val="300"/>
              </a:spcBef>
              <a:defRPr sz="1000">
                <a:solidFill>
                  <a:srgbClr val="94A3B8"/>
                </a:solidFill>
                <a:latin typeface="Arial"/>
              </a:defRPr>
            </a:pPr>
            <a:r>
              <a:t>• Focus: MVVM Pattern, Relational Indexing, WorkManager</a:t>
            </a:r>
          </a:p>
          <a:p>
            <a:pPr>
              <a:spcBef>
                <a:spcPts val="300"/>
              </a:spcBef>
              <a:defRPr sz="1000">
                <a:solidFill>
                  <a:srgbClr val="94A3B8"/>
                </a:solidFill>
                <a:latin typeface="Arial"/>
              </a:defRPr>
            </a:pPr>
            <a:r>
              <a:t>• Core Deliverable: Robust Data &amp; Background Engineering</a:t>
            </a:r>
          </a:p>
        </p:txBody>
      </p:sp>
      <p:sp>
        <p:nvSpPr>
          <p:cNvPr id="7" name="Rounded Rectangle 6"/>
          <p:cNvSpPr/>
          <p:nvPr/>
        </p:nvSpPr>
        <p:spPr>
          <a:xfrm>
            <a:off x="8046720" y="1554480"/>
            <a:ext cx="3413455" cy="3474720"/>
          </a:xfrm>
          <a:prstGeom prst="roundRect">
            <a:avLst/>
          </a:prstGeom>
          <a:solidFill>
            <a:srgbClr val="1E293B"/>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b="1" sz="1300">
                <a:solidFill>
                  <a:srgbClr val="8B5CF6"/>
                </a:solidFill>
                <a:latin typeface="Arial"/>
              </a:defRPr>
            </a:pPr>
            <a:r>
              <a:t>Arsh (C109)</a:t>
            </a:r>
          </a:p>
          <a:p>
            <a:pPr>
              <a:spcBef>
                <a:spcPts val="300"/>
              </a:spcBef>
              <a:defRPr sz="1000">
                <a:solidFill>
                  <a:srgbClr val="94A3B8"/>
                </a:solidFill>
                <a:latin typeface="Arial"/>
              </a:defRPr>
            </a:pPr>
            <a:r>
              <a:t>• Role: Behavioral Engine, fl_chart UI &amp; Verification</a:t>
            </a:r>
          </a:p>
          <a:p>
            <a:pPr>
              <a:spcBef>
                <a:spcPts val="300"/>
              </a:spcBef>
              <a:defRPr sz="1000">
                <a:solidFill>
                  <a:srgbClr val="94A3B8"/>
                </a:solidFill>
                <a:latin typeface="Arial"/>
              </a:defRPr>
            </a:pPr>
            <a:r>
              <a:t>• Presenting: Slides 7 to 9</a:t>
            </a:r>
          </a:p>
          <a:p>
            <a:pPr>
              <a:spcBef>
                <a:spcPts val="300"/>
              </a:spcBef>
              <a:defRPr sz="1000">
                <a:solidFill>
                  <a:srgbClr val="94A3B8"/>
                </a:solidFill>
                <a:latin typeface="Arial"/>
              </a:defRPr>
            </a:pPr>
            <a:r>
              <a:t>• Focus: Algorithmic Heuristics, Charts &amp; Unit Tests</a:t>
            </a:r>
          </a:p>
          <a:p>
            <a:pPr>
              <a:spcBef>
                <a:spcPts val="300"/>
              </a:spcBef>
              <a:defRPr sz="1000">
                <a:solidFill>
                  <a:srgbClr val="94A3B8"/>
                </a:solidFill>
                <a:latin typeface="Arial"/>
              </a:defRPr>
            </a:pPr>
            <a:r>
              <a:t>• Core Deliverable: Behavioral Analytics &amp; 100% Test Pass</a:t>
            </a:r>
          </a:p>
        </p:txBody>
      </p:sp>
      <p:sp>
        <p:nvSpPr>
          <p:cNvPr id="8" name="Rounded Rectangle 7"/>
          <p:cNvSpPr/>
          <p:nvPr/>
        </p:nvSpPr>
        <p:spPr>
          <a:xfrm>
            <a:off x="731520" y="5303520"/>
            <a:ext cx="10728655" cy="1188720"/>
          </a:xfrm>
          <a:prstGeom prst="roundRect">
            <a:avLst/>
          </a:prstGeom>
          <a:solidFill>
            <a:srgbClr val="0B1121"/>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rIns="137160" bIns="91440"/>
          <a:lstStyle/>
          <a:p>
            <a:pPr algn="ctr">
              <a:defRPr b="1" sz="950">
                <a:solidFill>
                  <a:srgbClr val="8B5CF6"/>
                </a:solidFill>
                <a:latin typeface="Arial"/>
              </a:defRPr>
            </a:pPr>
            <a:r>
              <a:t>SPEECH SCRIPT — SOHAM (C096) (~1 min 15 sec):</a:t>
            </a:r>
          </a:p>
          <a:p>
            <a:pPr>
              <a:spcBef>
                <a:spcPts val="200"/>
              </a:spcBef>
              <a:defRPr i="1" sz="919">
                <a:solidFill>
                  <a:srgbClr val="F8FAFC"/>
                </a:solidFill>
                <a:latin typeface="Arial"/>
              </a:defRPr>
            </a:pPr>
            <a:r>
              <a:t>"Respected faculty and fellow classmates, good morning. Welcome to our Mobile Application Development presentation. Today, our team—Aman, Arsh, and myself, Soham—is proud to present our project: an Offline-First Habit Tracker powered by Local Rule-Based Behavioral Insights. I will cover our problem domain and conceptual foundation; Aman will walk through our layered MVVM architecture, SQLite schema, and WorkManager background services; and Arsh will demonstrate our behavioral heuristics engine, visual progress charts, and verification suite. Let us begin by examining why current habit tracking software fails modern users."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1005840"/>
          </a:xfrm>
          <a:prstGeom prst="rect">
            <a:avLst/>
          </a:prstGeom>
          <a:noFill/>
        </p:spPr>
        <p:txBody>
          <a:bodyPr wrap="square" lIns="0" tIns="0" rIns="0" bIns="0">
            <a:spAutoFit/>
          </a:bodyPr>
          <a:lstStyle/>
          <a:p>
            <a:pPr>
              <a:defRPr b="1" sz="2200">
                <a:solidFill>
                  <a:srgbClr val="F8FAFC"/>
                </a:solidFill>
                <a:latin typeface="Arial"/>
              </a:defRPr>
            </a:pPr>
            <a:r>
              <a:t>Problem Statement &amp; Critical Motivation</a:t>
            </a:r>
          </a:p>
          <a:p>
            <a:pPr>
              <a:spcBef>
                <a:spcPts val="300"/>
              </a:spcBef>
              <a:defRPr sz="1200">
                <a:solidFill>
                  <a:srgbClr val="94A3B8"/>
                </a:solidFill>
                <a:latin typeface="Arial"/>
              </a:defRPr>
            </a:pPr>
            <a:r>
              <a:t>The three fatal vulnerabilities of contemporary commercial habit applications</a:t>
            </a:r>
          </a:p>
        </p:txBody>
      </p:sp>
      <p:sp>
        <p:nvSpPr>
          <p:cNvPr id="4" name="Rounded Rectangle 3"/>
          <p:cNvSpPr/>
          <p:nvPr/>
        </p:nvSpPr>
        <p:spPr>
          <a:xfrm>
            <a:off x="8686800" y="411480"/>
            <a:ext cx="2743200" cy="384048"/>
          </a:xfrm>
          <a:prstGeom prst="roundRect">
            <a:avLst/>
          </a:prstGeom>
          <a:solidFill>
            <a:srgbClr val="1E293B"/>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F43F5E"/>
                </a:solidFill>
                <a:latin typeface="Arial"/>
              </a:defRPr>
            </a:pPr>
            <a:r>
              <a:t>🎤 Soham (Roll No: C096)</a:t>
            </a:r>
          </a:p>
        </p:txBody>
      </p:sp>
      <p:sp>
        <p:nvSpPr>
          <p:cNvPr id="5" name="Rounded Rectangle 4"/>
          <p:cNvSpPr/>
          <p:nvPr/>
        </p:nvSpPr>
        <p:spPr>
          <a:xfrm>
            <a:off x="731520" y="1554480"/>
            <a:ext cx="3413455" cy="3474720"/>
          </a:xfrm>
          <a:prstGeom prst="roundRect">
            <a:avLst/>
          </a:prstGeom>
          <a:solidFill>
            <a:srgbClr val="1E293B"/>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b="1" sz="1300">
                <a:solidFill>
                  <a:srgbClr val="F43F5E"/>
                </a:solidFill>
                <a:latin typeface="Arial"/>
              </a:defRPr>
            </a:pPr>
            <a:r>
              <a:t>1. Cloud Lock-in &amp; Privacy Leaks</a:t>
            </a:r>
          </a:p>
          <a:p>
            <a:pPr>
              <a:spcBef>
                <a:spcPts val="300"/>
              </a:spcBef>
              <a:defRPr sz="1000">
                <a:solidFill>
                  <a:srgbClr val="94A3B8"/>
                </a:solidFill>
                <a:latin typeface="Arial"/>
              </a:defRPr>
            </a:pPr>
            <a:r>
              <a:t>• Personal routines represent sensitive human telemetry (medication, mental health, sleep).</a:t>
            </a:r>
          </a:p>
          <a:p>
            <a:pPr>
              <a:spcBef>
                <a:spcPts val="300"/>
              </a:spcBef>
              <a:defRPr sz="1000">
                <a:solidFill>
                  <a:srgbClr val="94A3B8"/>
                </a:solidFill>
                <a:latin typeface="Arial"/>
              </a:defRPr>
            </a:pPr>
            <a:r>
              <a:t>• Commercial apps mandate cloud logins and send daily logs to third-party ad networks.</a:t>
            </a:r>
          </a:p>
          <a:p>
            <a:pPr>
              <a:spcBef>
                <a:spcPts val="300"/>
              </a:spcBef>
              <a:defRPr sz="1000">
                <a:solidFill>
                  <a:srgbClr val="94A3B8"/>
                </a:solidFill>
                <a:latin typeface="Arial"/>
              </a:defRPr>
            </a:pPr>
            <a:r>
              <a:t>• Vulnerable to remote server breaches, downtime, and privacy policy alterations.</a:t>
            </a:r>
          </a:p>
        </p:txBody>
      </p:sp>
      <p:sp>
        <p:nvSpPr>
          <p:cNvPr id="6" name="Rounded Rectangle 5"/>
          <p:cNvSpPr/>
          <p:nvPr/>
        </p:nvSpPr>
        <p:spPr>
          <a:xfrm>
            <a:off x="4389120" y="1554480"/>
            <a:ext cx="3413455" cy="34747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b="1" sz="1300">
                <a:solidFill>
                  <a:srgbClr val="F59E0B"/>
                </a:solidFill>
                <a:latin typeface="Arial"/>
              </a:defRPr>
            </a:pPr>
            <a:r>
              <a:t>2. Offline Fragility &amp; High Latency</a:t>
            </a:r>
          </a:p>
          <a:p>
            <a:pPr>
              <a:spcBef>
                <a:spcPts val="300"/>
              </a:spcBef>
              <a:defRPr sz="1000">
                <a:solidFill>
                  <a:srgbClr val="94A3B8"/>
                </a:solidFill>
                <a:latin typeface="Arial"/>
              </a:defRPr>
            </a:pPr>
            <a:r>
              <a:t>• Habit check-ins occur in gym basements, transit subways, and flights without network.</a:t>
            </a:r>
          </a:p>
          <a:p>
            <a:pPr>
              <a:spcBef>
                <a:spcPts val="300"/>
              </a:spcBef>
              <a:defRPr sz="1000">
                <a:solidFill>
                  <a:srgbClr val="94A3B8"/>
                </a:solidFill>
                <a:latin typeface="Arial"/>
              </a:defRPr>
            </a:pPr>
            <a:r>
              <a:t>• Cloud-bound apps stall behind loading spinners when offline.</a:t>
            </a:r>
          </a:p>
          <a:p>
            <a:pPr>
              <a:spcBef>
                <a:spcPts val="300"/>
              </a:spcBef>
              <a:defRPr sz="1000">
                <a:solidFill>
                  <a:srgbClr val="94A3B8"/>
                </a:solidFill>
                <a:latin typeface="Arial"/>
              </a:defRPr>
            </a:pPr>
            <a:r>
              <a:t>• Synchronization conflicts frequently erase active streak data, frustrating users.</a:t>
            </a:r>
          </a:p>
        </p:txBody>
      </p:sp>
      <p:sp>
        <p:nvSpPr>
          <p:cNvPr id="7" name="Rounded Rectangle 6"/>
          <p:cNvSpPr/>
          <p:nvPr/>
        </p:nvSpPr>
        <p:spPr>
          <a:xfrm>
            <a:off x="8046720" y="1554480"/>
            <a:ext cx="3413455" cy="3474720"/>
          </a:xfrm>
          <a:prstGeom prst="roundRect">
            <a:avLst/>
          </a:prstGeom>
          <a:solidFill>
            <a:srgbClr val="1E293B"/>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b="1" sz="1300">
                <a:solidFill>
                  <a:srgbClr val="8B5CF6"/>
                </a:solidFill>
                <a:latin typeface="Arial"/>
              </a:defRPr>
            </a:pPr>
            <a:r>
              <a:t>3. Passive Checkboxes vs Guidance</a:t>
            </a:r>
          </a:p>
          <a:p>
            <a:pPr>
              <a:spcBef>
                <a:spcPts val="300"/>
              </a:spcBef>
              <a:defRPr sz="1000">
                <a:solidFill>
                  <a:srgbClr val="94A3B8"/>
                </a:solidFill>
                <a:latin typeface="Arial"/>
              </a:defRPr>
            </a:pPr>
            <a:r>
              <a:t>• Existing apps act as dumb digital checklists without psychological intelligence.</a:t>
            </a:r>
          </a:p>
          <a:p>
            <a:pPr>
              <a:spcBef>
                <a:spcPts val="300"/>
              </a:spcBef>
              <a:defRPr sz="1000">
                <a:solidFill>
                  <a:srgbClr val="94A3B8"/>
                </a:solidFill>
                <a:latin typeface="Arial"/>
              </a:defRPr>
            </a:pPr>
            <a:r>
              <a:t>• No detection of weekend drop-offs or cognitive burnout.</a:t>
            </a:r>
          </a:p>
          <a:p>
            <a:pPr>
              <a:spcBef>
                <a:spcPts val="300"/>
              </a:spcBef>
              <a:defRPr sz="1000">
                <a:solidFill>
                  <a:srgbClr val="94A3B8"/>
                </a:solidFill>
                <a:latin typeface="Arial"/>
              </a:defRPr>
            </a:pPr>
            <a:r>
              <a:t>• When a streak breaks, the 'what-the-hell' effect causes total app abandonment.</a:t>
            </a:r>
          </a:p>
        </p:txBody>
      </p:sp>
      <p:sp>
        <p:nvSpPr>
          <p:cNvPr id="8" name="Rounded Rectangle 7"/>
          <p:cNvSpPr/>
          <p:nvPr/>
        </p:nvSpPr>
        <p:spPr>
          <a:xfrm>
            <a:off x="731520" y="5303520"/>
            <a:ext cx="10728655" cy="1188720"/>
          </a:xfrm>
          <a:prstGeom prst="roundRect">
            <a:avLst/>
          </a:prstGeom>
          <a:solidFill>
            <a:srgbClr val="0B1121"/>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rIns="137160" bIns="91440"/>
          <a:lstStyle/>
          <a:p>
            <a:pPr algn="ctr">
              <a:defRPr b="1" sz="950">
                <a:solidFill>
                  <a:srgbClr val="8B5CF6"/>
                </a:solidFill>
                <a:latin typeface="Arial"/>
              </a:defRPr>
            </a:pPr>
            <a:r>
              <a:t>SPEECH SCRIPT — SOHAM (C096) (~1 min 10 sec):</a:t>
            </a:r>
          </a:p>
          <a:p>
            <a:pPr>
              <a:spcBef>
                <a:spcPts val="200"/>
              </a:spcBef>
              <a:defRPr i="1" sz="919">
                <a:solidFill>
                  <a:srgbClr val="F8FAFC"/>
                </a:solidFill>
                <a:latin typeface="Arial"/>
              </a:defRPr>
            </a:pPr>
            <a:r>
              <a:t>"When surveying commercial habit trackers on the Play Store, we found three fatal flaws. First is privacy: personal habits reflect our most intimate routines, yet apps force cloud logins and send telemetry to ad networks. Second is offline fragility: people build habits in gym basements, during flights, or on commutes where mobile networks drop, yet cloud apps freeze with spinners. Third, and most crucially, existing apps are passive: they act as dumb digital checklists. When you miss a habit on Saturday, they simply show a broken red cross, triggering psychological defeat. Our goal was to design an application that is completely private, latency-free, and actively intelligent."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1005840"/>
          </a:xfrm>
          <a:prstGeom prst="rect">
            <a:avLst/>
          </a:prstGeom>
          <a:noFill/>
        </p:spPr>
        <p:txBody>
          <a:bodyPr wrap="square" lIns="0" tIns="0" rIns="0" bIns="0">
            <a:spAutoFit/>
          </a:bodyPr>
          <a:lstStyle/>
          <a:p>
            <a:pPr>
              <a:defRPr b="1" sz="2200">
                <a:solidFill>
                  <a:srgbClr val="F8FAFC"/>
                </a:solidFill>
                <a:latin typeface="Arial"/>
              </a:defRPr>
            </a:pPr>
            <a:r>
              <a:t>Proposed Solution: The Offline Cognitive Companion</a:t>
            </a:r>
          </a:p>
          <a:p>
            <a:pPr>
              <a:spcBef>
                <a:spcPts val="300"/>
              </a:spcBef>
              <a:defRPr sz="1200">
                <a:solidFill>
                  <a:srgbClr val="94A3B8"/>
                </a:solidFill>
                <a:latin typeface="Arial"/>
              </a:defRPr>
            </a:pPr>
            <a:r>
              <a:t>Three foundational pillars of autonomous local habit engineering</a:t>
            </a:r>
          </a:p>
        </p:txBody>
      </p:sp>
      <p:sp>
        <p:nvSpPr>
          <p:cNvPr id="4" name="Rounded Rectangle 3"/>
          <p:cNvSpPr/>
          <p:nvPr/>
        </p:nvSpPr>
        <p:spPr>
          <a:xfrm>
            <a:off x="8686800" y="411480"/>
            <a:ext cx="2743200" cy="384048"/>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10B981"/>
                </a:solidFill>
                <a:latin typeface="Arial"/>
              </a:defRPr>
            </a:pPr>
            <a:r>
              <a:t>🎤 Soham (Roll No: C096)</a:t>
            </a:r>
          </a:p>
        </p:txBody>
      </p:sp>
      <p:sp>
        <p:nvSpPr>
          <p:cNvPr id="5" name="Rounded Rectangle 4"/>
          <p:cNvSpPr/>
          <p:nvPr/>
        </p:nvSpPr>
        <p:spPr>
          <a:xfrm>
            <a:off x="731520" y="1554480"/>
            <a:ext cx="3413455" cy="34747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b="1" sz="1300">
                <a:solidFill>
                  <a:srgbClr val="10B981"/>
                </a:solidFill>
                <a:latin typeface="Arial"/>
              </a:defRPr>
            </a:pPr>
            <a:r>
              <a:t>1. Absolute Local Sovereignty</a:t>
            </a:r>
          </a:p>
          <a:p>
            <a:pPr>
              <a:spcBef>
                <a:spcPts val="300"/>
              </a:spcBef>
              <a:defRPr sz="1000">
                <a:solidFill>
                  <a:srgbClr val="94A3B8"/>
                </a:solidFill>
                <a:latin typeface="Arial"/>
              </a:defRPr>
            </a:pPr>
            <a:r>
              <a:t>• Zero cloud servers, zero external API keys, zero authentication barriers.</a:t>
            </a:r>
          </a:p>
          <a:p>
            <a:pPr>
              <a:spcBef>
                <a:spcPts val="300"/>
              </a:spcBef>
              <a:defRPr sz="1000">
                <a:solidFill>
                  <a:srgbClr val="94A3B8"/>
                </a:solidFill>
                <a:latin typeface="Arial"/>
              </a:defRPr>
            </a:pPr>
            <a:r>
              <a:t>• Embedded local SQLite engine stores 100% of habit data and historical logs on-device.</a:t>
            </a:r>
          </a:p>
          <a:p>
            <a:pPr>
              <a:spcBef>
                <a:spcPts val="300"/>
              </a:spcBef>
              <a:defRPr sz="1000">
                <a:solidFill>
                  <a:srgbClr val="94A3B8"/>
                </a:solidFill>
                <a:latin typeface="Arial"/>
              </a:defRPr>
            </a:pPr>
            <a:r>
              <a:t>• Sub-millisecond read/write latency on check-in toggles with zero idle network drain.</a:t>
            </a:r>
          </a:p>
        </p:txBody>
      </p:sp>
      <p:sp>
        <p:nvSpPr>
          <p:cNvPr id="6" name="Rounded Rectangle 5"/>
          <p:cNvSpPr/>
          <p:nvPr/>
        </p:nvSpPr>
        <p:spPr>
          <a:xfrm>
            <a:off x="4389120" y="1554480"/>
            <a:ext cx="3413455" cy="347472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b="1" sz="1300">
                <a:solidFill>
                  <a:srgbClr val="3B82F6"/>
                </a:solidFill>
                <a:latin typeface="Arial"/>
              </a:defRPr>
            </a:pPr>
            <a:r>
              <a:t>2. Rule-Based Behavioral Engine</a:t>
            </a:r>
          </a:p>
          <a:p>
            <a:pPr>
              <a:spcBef>
                <a:spcPts val="300"/>
              </a:spcBef>
              <a:defRPr sz="1000">
                <a:solidFill>
                  <a:srgbClr val="94A3B8"/>
                </a:solidFill>
                <a:latin typeface="Arial"/>
              </a:defRPr>
            </a:pPr>
            <a:r>
              <a:t>• Deterministic implementation of proven behavioral science frameworks:</a:t>
            </a:r>
          </a:p>
          <a:p>
            <a:pPr>
              <a:spcBef>
                <a:spcPts val="300"/>
              </a:spcBef>
              <a:defRPr sz="1000">
                <a:solidFill>
                  <a:srgbClr val="94A3B8"/>
                </a:solidFill>
                <a:latin typeface="Arial"/>
              </a:defRPr>
            </a:pPr>
            <a:r>
              <a:t>• • James Clear's Atomic Habits: Procedural habit stacking anchor coupling.</a:t>
            </a:r>
          </a:p>
          <a:p>
            <a:pPr>
              <a:spcBef>
                <a:spcPts val="300"/>
              </a:spcBef>
              <a:defRPr sz="1000">
                <a:solidFill>
                  <a:srgbClr val="94A3B8"/>
                </a:solidFill>
                <a:latin typeface="Arial"/>
              </a:defRPr>
            </a:pPr>
            <a:r>
              <a:t>• • BJ Fogg's Tiny Habits: Weekend slump detection &amp; ability curves.</a:t>
            </a:r>
          </a:p>
          <a:p>
            <a:pPr>
              <a:spcBef>
                <a:spcPts val="300"/>
              </a:spcBef>
              <a:defRPr sz="1000">
                <a:solidFill>
                  <a:srgbClr val="94A3B8"/>
                </a:solidFill>
                <a:latin typeface="Arial"/>
              </a:defRPr>
            </a:pPr>
            <a:r>
              <a:t>• • Daniel Kahneman: Loss aversion streak protection.</a:t>
            </a:r>
          </a:p>
        </p:txBody>
      </p:sp>
      <p:sp>
        <p:nvSpPr>
          <p:cNvPr id="7" name="Rounded Rectangle 6"/>
          <p:cNvSpPr/>
          <p:nvPr/>
        </p:nvSpPr>
        <p:spPr>
          <a:xfrm>
            <a:off x="8046720" y="1554480"/>
            <a:ext cx="3413455" cy="34747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b="1" sz="1300">
                <a:solidFill>
                  <a:srgbClr val="F59E0B"/>
                </a:solidFill>
                <a:latin typeface="Arial"/>
              </a:defRPr>
            </a:pPr>
            <a:r>
              <a:t>3. Autonomous Background Guardian</a:t>
            </a:r>
          </a:p>
          <a:p>
            <a:pPr>
              <a:spcBef>
                <a:spcPts val="300"/>
              </a:spcBef>
              <a:defRPr sz="1000">
                <a:solidFill>
                  <a:srgbClr val="94A3B8"/>
                </a:solidFill>
                <a:latin typeface="Arial"/>
              </a:defRPr>
            </a:pPr>
            <a:r>
              <a:t>• Powered by Android WorkManager API running directly within OS constraints.</a:t>
            </a:r>
          </a:p>
          <a:p>
            <a:pPr>
              <a:spcBef>
                <a:spcPts val="300"/>
              </a:spcBef>
              <a:defRPr sz="1000">
                <a:solidFill>
                  <a:srgbClr val="94A3B8"/>
                </a:solidFill>
                <a:latin typeface="Arial"/>
              </a:defRPr>
            </a:pPr>
            <a:r>
              <a:t>• Opportunistically inspects SQLite database without waking screen.</a:t>
            </a:r>
          </a:p>
          <a:p>
            <a:pPr>
              <a:spcBef>
                <a:spcPts val="300"/>
              </a:spcBef>
              <a:defRPr sz="1000">
                <a:solidFill>
                  <a:srgbClr val="94A3B8"/>
                </a:solidFill>
                <a:latin typeface="Arial"/>
              </a:defRPr>
            </a:pPr>
            <a:r>
              <a:t>• Dispatches timely streak defense alerts before midnight cutoff to prevent streak collapse.</a:t>
            </a:r>
          </a:p>
        </p:txBody>
      </p:sp>
      <p:sp>
        <p:nvSpPr>
          <p:cNvPr id="8" name="Rounded Rectangle 7"/>
          <p:cNvSpPr/>
          <p:nvPr/>
        </p:nvSpPr>
        <p:spPr>
          <a:xfrm>
            <a:off x="731520" y="5303520"/>
            <a:ext cx="10728655" cy="1188720"/>
          </a:xfrm>
          <a:prstGeom prst="roundRect">
            <a:avLst/>
          </a:prstGeom>
          <a:solidFill>
            <a:srgbClr val="0B1121"/>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rIns="137160" bIns="91440"/>
          <a:lstStyle/>
          <a:p>
            <a:pPr algn="ctr">
              <a:defRPr b="1" sz="950">
                <a:solidFill>
                  <a:srgbClr val="8B5CF6"/>
                </a:solidFill>
                <a:latin typeface="Arial"/>
              </a:defRPr>
            </a:pPr>
            <a:r>
              <a:t>SPEECH SCRIPT — SOHAM (C096) (~1 min 10 sec):</a:t>
            </a:r>
          </a:p>
          <a:p>
            <a:pPr>
              <a:spcBef>
                <a:spcPts val="200"/>
              </a:spcBef>
              <a:defRPr i="1" sz="919">
                <a:solidFill>
                  <a:srgbClr val="F8FAFC"/>
                </a:solidFill>
                <a:latin typeface="Arial"/>
              </a:defRPr>
            </a:pPr>
            <a:r>
              <a:t>"Our solution resolves these vulnerabilities through three foundational pillars. Pillar one is absolute local sovereignty: by embedding SQLite directly inside the mobile runtime, every read, write, and streak calculation executes in sub-milliseconds with zero cloud transmission. Pillar two is our rule-based behavioral analytics engine: rather than relying on expensive or unpredictable cloud LLM APIs, we codified established behavioral psychology principles into deterministic local heuristics that identify anchor habits and weekend slumps. Finally, pillar three is our background guardian powered by Android WorkManager, which opportunistically protects active streaks before midnight. I will now hand over to Aman to detail our technical stack and database design."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1005840"/>
          </a:xfrm>
          <a:prstGeom prst="rect">
            <a:avLst/>
          </a:prstGeom>
          <a:noFill/>
        </p:spPr>
        <p:txBody>
          <a:bodyPr wrap="square" lIns="0" tIns="0" rIns="0" bIns="0">
            <a:spAutoFit/>
          </a:bodyPr>
          <a:lstStyle/>
          <a:p>
            <a:pPr>
              <a:defRPr b="1" sz="2200">
                <a:solidFill>
                  <a:srgbClr val="F8FAFC"/>
                </a:solidFill>
                <a:latin typeface="Arial"/>
              </a:defRPr>
            </a:pPr>
            <a:r>
              <a:t>Technical Architecture &amp; Technology Stack</a:t>
            </a:r>
          </a:p>
          <a:p>
            <a:pPr>
              <a:spcBef>
                <a:spcPts val="300"/>
              </a:spcBef>
              <a:defRPr sz="1200">
                <a:solidFill>
                  <a:srgbClr val="94A3B8"/>
                </a:solidFill>
                <a:latin typeface="Arial"/>
              </a:defRPr>
            </a:pPr>
            <a:r>
              <a:t>Layered MVVM architecture engineered for high-performance offline mobile execution</a:t>
            </a:r>
          </a:p>
        </p:txBody>
      </p:sp>
      <p:sp>
        <p:nvSpPr>
          <p:cNvPr id="4" name="Rounded Rectangle 3"/>
          <p:cNvSpPr/>
          <p:nvPr/>
        </p:nvSpPr>
        <p:spPr>
          <a:xfrm>
            <a:off x="8686800" y="411480"/>
            <a:ext cx="2743200" cy="384048"/>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3B82F6"/>
                </a:solidFill>
                <a:latin typeface="Arial"/>
              </a:defRPr>
            </a:pPr>
            <a:r>
              <a:t>🎤 Aman (Roll No: C106)</a:t>
            </a:r>
          </a:p>
        </p:txBody>
      </p:sp>
      <p:sp>
        <p:nvSpPr>
          <p:cNvPr id="5" name="Rounded Rectangle 4"/>
          <p:cNvSpPr/>
          <p:nvPr/>
        </p:nvSpPr>
        <p:spPr>
          <a:xfrm>
            <a:off x="731520" y="1554480"/>
            <a:ext cx="5212080" cy="347472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b="1" sz="1300">
                <a:solidFill>
                  <a:srgbClr val="3B82F6"/>
                </a:solidFill>
                <a:latin typeface="Arial"/>
              </a:defRPr>
            </a:pPr>
            <a:r>
              <a:t>Layered MVVM Architectural Blueprint</a:t>
            </a:r>
          </a:p>
          <a:p>
            <a:pPr>
              <a:spcBef>
                <a:spcPts val="300"/>
              </a:spcBef>
              <a:defRPr sz="1000">
                <a:solidFill>
                  <a:srgbClr val="94A3B8"/>
                </a:solidFill>
                <a:latin typeface="Arial"/>
              </a:defRPr>
            </a:pPr>
            <a:r>
              <a:t>• Presentation Layer (UI): Lean widgets listening to ViewModels (HabitViewModel, InsightsViewModel, StatsViewModel) via Provider.</a:t>
            </a:r>
          </a:p>
          <a:p>
            <a:pPr>
              <a:spcBef>
                <a:spcPts val="300"/>
              </a:spcBef>
              <a:defRPr sz="1000">
                <a:solidFill>
                  <a:srgbClr val="94A3B8"/>
                </a:solidFill>
                <a:latin typeface="Arial"/>
              </a:defRPr>
            </a:pPr>
            <a:r>
              <a:t>• Domain Layer (Logic): Pure BehavioralInsightsEngine &amp; LocalCoachPrompts decoupled from UI and external packages.</a:t>
            </a:r>
          </a:p>
          <a:p>
            <a:pPr>
              <a:spcBef>
                <a:spcPts val="300"/>
              </a:spcBef>
              <a:defRPr sz="1000">
                <a:solidFill>
                  <a:srgbClr val="94A3B8"/>
                </a:solidFill>
                <a:latin typeface="Arial"/>
              </a:defRPr>
            </a:pPr>
            <a:r>
              <a:t>• Data Layer (Persistence): HabitRepository &amp; InsightsRepository abstracting SQLite (sqflite) via single source of truth.</a:t>
            </a:r>
          </a:p>
          <a:p>
            <a:pPr>
              <a:spcBef>
                <a:spcPts val="300"/>
              </a:spcBef>
              <a:defRPr sz="1000">
                <a:solidFill>
                  <a:srgbClr val="94A3B8"/>
                </a:solidFill>
                <a:latin typeface="Arial"/>
              </a:defRPr>
            </a:pPr>
            <a:r>
              <a:t>• System Services: BackgroundWorkerService (Android WorkManager) &amp; NotificationService (Local Notifications Channel).</a:t>
            </a:r>
          </a:p>
        </p:txBody>
      </p:sp>
      <p:sp>
        <p:nvSpPr>
          <p:cNvPr id="6" name="Rounded Rectangle 5"/>
          <p:cNvSpPr/>
          <p:nvPr/>
        </p:nvSpPr>
        <p:spPr>
          <a:xfrm>
            <a:off x="6217920" y="1554480"/>
            <a:ext cx="5212080" cy="34747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b="1" sz="1300">
                <a:solidFill>
                  <a:srgbClr val="10B981"/>
                </a:solidFill>
                <a:latin typeface="Arial"/>
              </a:defRPr>
            </a:pPr>
            <a:r>
              <a:t>Core Technology Stack &amp; Rationale</a:t>
            </a:r>
          </a:p>
          <a:p>
            <a:pPr>
              <a:spcBef>
                <a:spcPts val="300"/>
              </a:spcBef>
              <a:defRPr sz="1000">
                <a:solidFill>
                  <a:srgbClr val="94A3B8"/>
                </a:solidFill>
                <a:latin typeface="Arial"/>
              </a:defRPr>
            </a:pPr>
            <a:r>
              <a:t>• Flutter 3.44.x &amp; Dart 3.12: Compiles directly to native ARM machine code for smooth 60/120 FPS interface rendering.</a:t>
            </a:r>
          </a:p>
          <a:p>
            <a:pPr>
              <a:spcBef>
                <a:spcPts val="300"/>
              </a:spcBef>
              <a:defRPr sz="1000">
                <a:solidFill>
                  <a:srgbClr val="94A3B8"/>
                </a:solidFill>
                <a:latin typeface="Arial"/>
              </a:defRPr>
            </a:pPr>
            <a:r>
              <a:t>• SQLite (sqflite): Embedded ACID-compliant relational SQL engine on-device with zero network latency.</a:t>
            </a:r>
          </a:p>
          <a:p>
            <a:pPr>
              <a:spcBef>
                <a:spcPts val="300"/>
              </a:spcBef>
              <a:defRPr sz="1000">
                <a:solidFill>
                  <a:srgbClr val="94A3B8"/>
                </a:solidFill>
                <a:latin typeface="Arial"/>
              </a:defRPr>
            </a:pPr>
            <a:r>
              <a:t>• Provider Pattern: Reactive state management with clean dependency injection.</a:t>
            </a:r>
          </a:p>
          <a:p>
            <a:pPr>
              <a:spcBef>
                <a:spcPts val="300"/>
              </a:spcBef>
              <a:defRPr sz="1000">
                <a:solidFill>
                  <a:srgbClr val="94A3B8"/>
                </a:solidFill>
                <a:latin typeface="Arial"/>
              </a:defRPr>
            </a:pPr>
            <a:r>
              <a:t>• fl_chart: Hardware-accelerated graphics for progress bars, heatmaps, and trend lines.</a:t>
            </a:r>
          </a:p>
          <a:p>
            <a:pPr>
              <a:spcBef>
                <a:spcPts val="300"/>
              </a:spcBef>
              <a:defRPr sz="1000">
                <a:solidFill>
                  <a:srgbClr val="94A3B8"/>
                </a:solidFill>
                <a:latin typeface="Arial"/>
              </a:defRPr>
            </a:pPr>
            <a:r>
              <a:t>• Android WorkManager API: Battery-conscious background execution conforming to modern Doze Mode requirements.</a:t>
            </a:r>
          </a:p>
        </p:txBody>
      </p:sp>
      <p:sp>
        <p:nvSpPr>
          <p:cNvPr id="7" name="Rounded Rectangle 6"/>
          <p:cNvSpPr/>
          <p:nvPr/>
        </p:nvSpPr>
        <p:spPr>
          <a:xfrm>
            <a:off x="731520" y="5303520"/>
            <a:ext cx="10728655" cy="1188720"/>
          </a:xfrm>
          <a:prstGeom prst="roundRect">
            <a:avLst/>
          </a:prstGeom>
          <a:solidFill>
            <a:srgbClr val="0B1121"/>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rIns="137160" bIns="91440"/>
          <a:lstStyle/>
          <a:p>
            <a:pPr algn="ctr">
              <a:defRPr b="1" sz="950">
                <a:solidFill>
                  <a:srgbClr val="8B5CF6"/>
                </a:solidFill>
                <a:latin typeface="Arial"/>
              </a:defRPr>
            </a:pPr>
            <a:r>
              <a:t>SPEECH SCRIPT — AMAN (C106) (~1 min 15 sec):</a:t>
            </a:r>
          </a:p>
          <a:p>
            <a:pPr>
              <a:spcBef>
                <a:spcPts val="200"/>
              </a:spcBef>
              <a:defRPr i="1" sz="919">
                <a:solidFill>
                  <a:srgbClr val="F8FAFC"/>
                </a:solidFill>
                <a:latin typeface="Arial"/>
              </a:defRPr>
            </a:pPr>
            <a:r>
              <a:t>"Thank you, Soham. Respected faculty, I will now present our technical architecture. We implemented a strict layered MVVM pattern using Flutter and Provider. At the top is our Presentation Layer, housing lean widgets and ViewModels that expose immutable state snapshots. Below that is our Domain Layer, containing our pure behavioral calculation engine—completely free of UI dependencies. The Data Layer implements the Repository Pattern on top of SQLite, ensuring single-source-of-truth data integrity. By compiling directly to native Android code and avoiding remote web servers, our app achieves sub-millisecond query execution and zero battery drain from idle network polling."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1005840"/>
          </a:xfrm>
          <a:prstGeom prst="rect">
            <a:avLst/>
          </a:prstGeom>
          <a:noFill/>
        </p:spPr>
        <p:txBody>
          <a:bodyPr wrap="square" lIns="0" tIns="0" rIns="0" bIns="0">
            <a:spAutoFit/>
          </a:bodyPr>
          <a:lstStyle/>
          <a:p>
            <a:pPr>
              <a:defRPr b="1" sz="2200">
                <a:solidFill>
                  <a:srgbClr val="F8FAFC"/>
                </a:solidFill>
                <a:latin typeface="Arial"/>
              </a:defRPr>
            </a:pPr>
            <a:r>
              <a:t>SQLite Database Schema &amp; Data Integrity</a:t>
            </a:r>
          </a:p>
          <a:p>
            <a:pPr>
              <a:spcBef>
                <a:spcPts val="300"/>
              </a:spcBef>
              <a:defRPr sz="1200">
                <a:solidFill>
                  <a:srgbClr val="94A3B8"/>
                </a:solidFill>
                <a:latin typeface="Arial"/>
              </a:defRPr>
            </a:pPr>
            <a:r>
              <a:t>Relational tables, compound indexing, and cascade relationships in local storage</a:t>
            </a:r>
          </a:p>
        </p:txBody>
      </p:sp>
      <p:sp>
        <p:nvSpPr>
          <p:cNvPr id="4" name="Rounded Rectangle 3"/>
          <p:cNvSpPr/>
          <p:nvPr/>
        </p:nvSpPr>
        <p:spPr>
          <a:xfrm>
            <a:off x="8686800" y="411480"/>
            <a:ext cx="2743200" cy="384048"/>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10B981"/>
                </a:solidFill>
                <a:latin typeface="Arial"/>
              </a:defRPr>
            </a:pPr>
            <a:r>
              <a:t>🎤 Aman (Roll No: C106)</a:t>
            </a:r>
          </a:p>
        </p:txBody>
      </p:sp>
      <p:sp>
        <p:nvSpPr>
          <p:cNvPr id="5" name="Rounded Rectangle 4"/>
          <p:cNvSpPr/>
          <p:nvPr/>
        </p:nvSpPr>
        <p:spPr>
          <a:xfrm>
            <a:off x="731520" y="1554480"/>
            <a:ext cx="5212080" cy="34747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b="1" sz="1300">
                <a:solidFill>
                  <a:srgbClr val="10B981"/>
                </a:solidFill>
                <a:latin typeface="Arial"/>
              </a:defRPr>
            </a:pPr>
            <a:r>
              <a:t>Relational Schema Breakdown</a:t>
            </a:r>
          </a:p>
          <a:p>
            <a:pPr>
              <a:spcBef>
                <a:spcPts val="300"/>
              </a:spcBef>
              <a:defRPr sz="1000">
                <a:solidFill>
                  <a:srgbClr val="94A3B8"/>
                </a:solidFill>
                <a:latin typeface="Arial"/>
              </a:defRPr>
            </a:pPr>
            <a:r>
              <a:t>• habits table: Stores habit definitions (id, title, description, category, color, frequency_type, target_count, reminder_time, anchor_habit_id).</a:t>
            </a:r>
          </a:p>
          <a:p>
            <a:pPr>
              <a:spcBef>
                <a:spcPts val="300"/>
              </a:spcBef>
              <a:defRPr sz="1000">
                <a:solidFill>
                  <a:srgbClr val="94A3B8"/>
                </a:solidFill>
                <a:latin typeface="Arial"/>
              </a:defRPr>
            </a:pPr>
            <a:r>
              <a:t>• habit_logs table: Stores daily check-ins (id, habit_id, date, status, value, notes, logged_at, mood_score 1-5).</a:t>
            </a:r>
          </a:p>
          <a:p>
            <a:pPr>
              <a:spcBef>
                <a:spcPts val="300"/>
              </a:spcBef>
              <a:defRPr sz="1000">
                <a:solidFill>
                  <a:srgbClr val="94A3B8"/>
                </a:solidFill>
                <a:latin typeface="Arial"/>
              </a:defRPr>
            </a:pPr>
            <a:r>
              <a:t>• UNIQUE(habit_id, date) Constraint: Guarantees idempotency—rapid toggling never duplicates records.</a:t>
            </a:r>
          </a:p>
          <a:p>
            <a:pPr>
              <a:spcBef>
                <a:spcPts val="300"/>
              </a:spcBef>
              <a:defRPr sz="1000">
                <a:solidFill>
                  <a:srgbClr val="94A3B8"/>
                </a:solidFill>
                <a:latin typeface="Arial"/>
              </a:defRPr>
            </a:pPr>
            <a:r>
              <a:t>• behavioral_insights table: Caches generated nudges categorized by severity and psychological principle.</a:t>
            </a:r>
          </a:p>
        </p:txBody>
      </p:sp>
      <p:sp>
        <p:nvSpPr>
          <p:cNvPr id="6" name="Rounded Rectangle 5"/>
          <p:cNvSpPr/>
          <p:nvPr/>
        </p:nvSpPr>
        <p:spPr>
          <a:xfrm>
            <a:off x="6217920" y="1554480"/>
            <a:ext cx="5212080" cy="347472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b="1" sz="1300">
                <a:solidFill>
                  <a:srgbClr val="3B82F6"/>
                </a:solidFill>
                <a:latin typeface="Arial"/>
              </a:defRPr>
            </a:pPr>
            <a:r>
              <a:t>Compound Indexing &amp; Performance Optimizations</a:t>
            </a:r>
          </a:p>
          <a:p>
            <a:pPr>
              <a:spcBef>
                <a:spcPts val="300"/>
              </a:spcBef>
              <a:defRPr sz="1000">
                <a:solidFill>
                  <a:srgbClr val="94A3B8"/>
                </a:solidFill>
                <a:latin typeface="Arial"/>
              </a:defRPr>
            </a:pPr>
            <a:r>
              <a:t>• CREATE INDEX idx_logs_habit_date ON habit_logs(habit_id, date): Enables sub-4ms streak lookups.</a:t>
            </a:r>
          </a:p>
          <a:p>
            <a:pPr>
              <a:spcBef>
                <a:spcPts val="300"/>
              </a:spcBef>
              <a:defRPr sz="1000">
                <a:solidFill>
                  <a:srgbClr val="94A3B8"/>
                </a:solidFill>
                <a:latin typeface="Arial"/>
              </a:defRPr>
            </a:pPr>
            <a:r>
              <a:t>• CREATE INDEX idx_logs_date ON habit_logs(date): Accelerates 28-day activity heatmap loading.</a:t>
            </a:r>
          </a:p>
          <a:p>
            <a:pPr>
              <a:spcBef>
                <a:spcPts val="300"/>
              </a:spcBef>
              <a:defRPr sz="1000">
                <a:solidFill>
                  <a:srgbClr val="94A3B8"/>
                </a:solidFill>
                <a:latin typeface="Arial"/>
              </a:defRPr>
            </a:pPr>
            <a:r>
              <a:t>• ON DELETE CASCADE: Deleting a habit cleanly purges associated logs and cached insights with zero orphaned rows.</a:t>
            </a:r>
          </a:p>
          <a:p>
            <a:pPr>
              <a:spcBef>
                <a:spcPts val="300"/>
              </a:spcBef>
              <a:defRPr sz="1000">
                <a:solidFill>
                  <a:srgbClr val="94A3B8"/>
                </a:solidFill>
                <a:latin typeface="Arial"/>
              </a:defRPr>
            </a:pPr>
            <a:r>
              <a:t>• ACID Guarantees: All database modifications execute in atomic transactions, preventing data corruption upon sudden app termination.</a:t>
            </a:r>
          </a:p>
        </p:txBody>
      </p:sp>
      <p:sp>
        <p:nvSpPr>
          <p:cNvPr id="7" name="Rounded Rectangle 6"/>
          <p:cNvSpPr/>
          <p:nvPr/>
        </p:nvSpPr>
        <p:spPr>
          <a:xfrm>
            <a:off x="731520" y="5303520"/>
            <a:ext cx="10728655" cy="1188720"/>
          </a:xfrm>
          <a:prstGeom prst="roundRect">
            <a:avLst/>
          </a:prstGeom>
          <a:solidFill>
            <a:srgbClr val="0B1121"/>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rIns="137160" bIns="91440"/>
          <a:lstStyle/>
          <a:p>
            <a:pPr algn="ctr">
              <a:defRPr b="1" sz="950">
                <a:solidFill>
                  <a:srgbClr val="8B5CF6"/>
                </a:solidFill>
                <a:latin typeface="Arial"/>
              </a:defRPr>
            </a:pPr>
            <a:r>
              <a:t>SPEECH SCRIPT — AMAN (C106) (~1 min 15 sec):</a:t>
            </a:r>
          </a:p>
          <a:p>
            <a:pPr>
              <a:spcBef>
                <a:spcPts val="200"/>
              </a:spcBef>
              <a:defRPr i="1" sz="919">
                <a:solidFill>
                  <a:srgbClr val="F8FAFC"/>
                </a:solidFill>
                <a:latin typeface="Arial"/>
              </a:defRPr>
            </a:pPr>
            <a:r>
              <a:t>"A production-grade offline application depends entirely on its relational schema. In our SQLite implementation, we designed three core tables: habits, habit_logs, and behavioral_insights. Notice the UNIQUE(habit_id, date) constraint on habit_logs: this prevents duplicate entries and ensures idempotency during rapid UI toggling. Furthermore, we established a foreign key on anchor_habit_id within the habits table itself, enabling habit stacking. To ensure our 30-day analytics and heatmaps render at 60 FPS without frame skips, we built compound B-Tree indexes on (habit_id, date). All queries execute in under 4 milliseconds."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1005840"/>
          </a:xfrm>
          <a:prstGeom prst="rect">
            <a:avLst/>
          </a:prstGeom>
          <a:noFill/>
        </p:spPr>
        <p:txBody>
          <a:bodyPr wrap="square" lIns="0" tIns="0" rIns="0" bIns="0">
            <a:spAutoFit/>
          </a:bodyPr>
          <a:lstStyle/>
          <a:p>
            <a:pPr>
              <a:defRPr b="1" sz="2200">
                <a:solidFill>
                  <a:srgbClr val="F8FAFC"/>
                </a:solidFill>
                <a:latin typeface="Arial"/>
              </a:defRPr>
            </a:pPr>
            <a:r>
              <a:t>Background Services &amp; Android WorkManager</a:t>
            </a:r>
          </a:p>
          <a:p>
            <a:pPr>
              <a:spcBef>
                <a:spcPts val="300"/>
              </a:spcBef>
              <a:defRPr sz="1200">
                <a:solidFill>
                  <a:srgbClr val="94A3B8"/>
                </a:solidFill>
                <a:latin typeface="Arial"/>
              </a:defRPr>
            </a:pPr>
            <a:r>
              <a:t>Battery-friendly autonomous streak protection conforming to modern Android OS constraints</a:t>
            </a:r>
          </a:p>
        </p:txBody>
      </p:sp>
      <p:sp>
        <p:nvSpPr>
          <p:cNvPr id="4" name="Rounded Rectangle 3"/>
          <p:cNvSpPr/>
          <p:nvPr/>
        </p:nvSpPr>
        <p:spPr>
          <a:xfrm>
            <a:off x="8686800" y="411480"/>
            <a:ext cx="2743200" cy="384048"/>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F59E0B"/>
                </a:solidFill>
                <a:latin typeface="Arial"/>
              </a:defRPr>
            </a:pPr>
            <a:r>
              <a:t>🎤 Aman (Roll No: C106)</a:t>
            </a:r>
          </a:p>
        </p:txBody>
      </p:sp>
      <p:sp>
        <p:nvSpPr>
          <p:cNvPr id="5" name="Rounded Rectangle 4"/>
          <p:cNvSpPr/>
          <p:nvPr/>
        </p:nvSpPr>
        <p:spPr>
          <a:xfrm>
            <a:off x="731520" y="1554480"/>
            <a:ext cx="5212080" cy="34747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b="1" sz="1300">
                <a:solidFill>
                  <a:srgbClr val="F59E0B"/>
                </a:solidFill>
                <a:latin typeface="Arial"/>
              </a:defRPr>
            </a:pPr>
            <a:r>
              <a:t>Android Background Constraints &amp; WorkManager</a:t>
            </a:r>
          </a:p>
          <a:p>
            <a:pPr>
              <a:spcBef>
                <a:spcPts val="300"/>
              </a:spcBef>
              <a:defRPr sz="1000">
                <a:solidFill>
                  <a:srgbClr val="94A3B8"/>
                </a:solidFill>
                <a:latin typeface="Arial"/>
              </a:defRPr>
            </a:pPr>
            <a:r>
              <a:t>• Android 12+ Doze Mode: Strictly kills background threads and limits AlarmManager timers to prevent battery drain.</a:t>
            </a:r>
          </a:p>
          <a:p>
            <a:pPr>
              <a:spcBef>
                <a:spcPts val="300"/>
              </a:spcBef>
              <a:defRPr sz="1000">
                <a:solidFill>
                  <a:srgbClr val="94A3B8"/>
                </a:solidFill>
                <a:latin typeface="Arial"/>
              </a:defRPr>
            </a:pPr>
            <a:r>
              <a:t>• Native WorkManager API: The Android standard for deferrable, guaranteed background execution.</a:t>
            </a:r>
          </a:p>
          <a:p>
            <a:pPr>
              <a:spcBef>
                <a:spcPts val="300"/>
              </a:spcBef>
              <a:defRPr sz="1000">
                <a:solidFill>
                  <a:srgbClr val="94A3B8"/>
                </a:solidFill>
                <a:latin typeface="Arial"/>
              </a:defRPr>
            </a:pPr>
            <a:r>
              <a:t>• @pragma('vm:entry-point') callbackDispatcher: Dedicated background Dart isolate initialized independently of the UI thread.</a:t>
            </a:r>
          </a:p>
          <a:p>
            <a:pPr>
              <a:spcBef>
                <a:spcPts val="300"/>
              </a:spcBef>
              <a:defRPr sz="1000">
                <a:solidFill>
                  <a:srgbClr val="94A3B8"/>
                </a:solidFill>
                <a:latin typeface="Arial"/>
              </a:defRPr>
            </a:pPr>
            <a:r>
              <a:t>• Opportunistic Execution: Scheduled every 3 hours with battery-not-low constraints and zero network requirement.</a:t>
            </a:r>
          </a:p>
        </p:txBody>
      </p:sp>
      <p:sp>
        <p:nvSpPr>
          <p:cNvPr id="6" name="Rounded Rectangle 5"/>
          <p:cNvSpPr/>
          <p:nvPr/>
        </p:nvSpPr>
        <p:spPr>
          <a:xfrm>
            <a:off x="6217920" y="1554480"/>
            <a:ext cx="5212080" cy="3474720"/>
          </a:xfrm>
          <a:prstGeom prst="roundRect">
            <a:avLst/>
          </a:prstGeom>
          <a:solidFill>
            <a:srgbClr val="1E293B"/>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b="1" sz="1300">
                <a:solidFill>
                  <a:srgbClr val="F43F5E"/>
                </a:solidFill>
                <a:latin typeface="Arial"/>
              </a:defRPr>
            </a:pPr>
            <a:r>
              <a:t>Autonomous Streak Defense &amp; Local Notifications</a:t>
            </a:r>
          </a:p>
          <a:p>
            <a:pPr>
              <a:spcBef>
                <a:spcPts val="300"/>
              </a:spcBef>
              <a:defRPr sz="1000">
                <a:solidFill>
                  <a:srgbClr val="94A3B8"/>
                </a:solidFill>
                <a:latin typeface="Arial"/>
              </a:defRPr>
            </a:pPr>
            <a:r>
              <a:t>• Isolate SQLite Inspection: Wakes up, opens local SQLite database, and queries today's incomplete habits.</a:t>
            </a:r>
          </a:p>
          <a:p>
            <a:pPr>
              <a:spcBef>
                <a:spcPts val="300"/>
              </a:spcBef>
              <a:defRPr sz="1000">
                <a:solidFill>
                  <a:srgbClr val="94A3B8"/>
                </a:solidFill>
                <a:latin typeface="Arial"/>
              </a:defRPr>
            </a:pPr>
            <a:r>
              <a:t>• Loss Aversion Alert: If active streak &gt;= 3 days and clock passes 18:00 (6:00 PM), fires an urgent Streak Defense prompt.</a:t>
            </a:r>
          </a:p>
          <a:p>
            <a:pPr>
              <a:spcBef>
                <a:spcPts val="300"/>
              </a:spcBef>
              <a:defRPr sz="1000">
                <a:solidFill>
                  <a:srgbClr val="94A3B8"/>
                </a:solidFill>
                <a:latin typeface="Arial"/>
              </a:defRPr>
            </a:pPr>
            <a:r>
              <a:t>• High-Importance Channel: Registered under 'habit_tracker_channel' with priority headers and custom vibration.</a:t>
            </a:r>
          </a:p>
          <a:p>
            <a:pPr>
              <a:spcBef>
                <a:spcPts val="300"/>
              </a:spcBef>
              <a:defRPr sz="1000">
                <a:solidFill>
                  <a:srgbClr val="94A3B8"/>
                </a:solidFill>
                <a:latin typeface="Arial"/>
              </a:defRPr>
            </a:pPr>
            <a:r>
              <a:t>• Android 13/14+ Permissions: Gracefully requests runtime POST_NOTIFICATIONS permissions without blocking user workflow.</a:t>
            </a:r>
          </a:p>
        </p:txBody>
      </p:sp>
      <p:sp>
        <p:nvSpPr>
          <p:cNvPr id="7" name="Rounded Rectangle 6"/>
          <p:cNvSpPr/>
          <p:nvPr/>
        </p:nvSpPr>
        <p:spPr>
          <a:xfrm>
            <a:off x="731520" y="5303520"/>
            <a:ext cx="10728655" cy="1188720"/>
          </a:xfrm>
          <a:prstGeom prst="roundRect">
            <a:avLst/>
          </a:prstGeom>
          <a:solidFill>
            <a:srgbClr val="0B1121"/>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rIns="137160" bIns="91440"/>
          <a:lstStyle/>
          <a:p>
            <a:pPr algn="ctr">
              <a:defRPr b="1" sz="950">
                <a:solidFill>
                  <a:srgbClr val="8B5CF6"/>
                </a:solidFill>
                <a:latin typeface="Arial"/>
              </a:defRPr>
            </a:pPr>
            <a:r>
              <a:t>SPEECH SCRIPT — AMAN (C106) (~1 min 10 sec):</a:t>
            </a:r>
          </a:p>
          <a:p>
            <a:pPr>
              <a:spcBef>
                <a:spcPts val="200"/>
              </a:spcBef>
              <a:defRPr i="1" sz="919">
                <a:solidFill>
                  <a:srgbClr val="F8FAFC"/>
                </a:solidFill>
                <a:latin typeface="Arial"/>
              </a:defRPr>
            </a:pPr>
            <a:r>
              <a:t>"One of our biggest engineering hurdles was maintaining reliable background execution without draining battery or violating Android 13+ background execution limits. We leveraged the native Android WorkManager API via Flutter's callback dispatcher. Every few hours, WorkManager spins up a background Dart isolate, opens our local SQLite database, and queries whether scheduled habits remain unfinished. If the user possesses an active 3-day streak and the clock passes 6:00 PM, the engine automatically fires a local notification to protect that streak. I will now hand over to Arsh to present our behavioral analytics engine and UI analytics."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1005840"/>
          </a:xfrm>
          <a:prstGeom prst="rect">
            <a:avLst/>
          </a:prstGeom>
          <a:noFill/>
        </p:spPr>
        <p:txBody>
          <a:bodyPr wrap="square" lIns="0" tIns="0" rIns="0" bIns="0">
            <a:spAutoFit/>
          </a:bodyPr>
          <a:lstStyle/>
          <a:p>
            <a:pPr>
              <a:defRPr b="1" sz="2200">
                <a:solidFill>
                  <a:srgbClr val="F8FAFC"/>
                </a:solidFill>
                <a:latin typeface="Arial"/>
              </a:defRPr>
            </a:pPr>
            <a:r>
              <a:t>Rule-Based Behavioral Analytics Engine</a:t>
            </a:r>
          </a:p>
          <a:p>
            <a:pPr>
              <a:spcBef>
                <a:spcPts val="300"/>
              </a:spcBef>
              <a:defRPr sz="1200">
                <a:solidFill>
                  <a:srgbClr val="94A3B8"/>
                </a:solidFill>
                <a:latin typeface="Arial"/>
              </a:defRPr>
            </a:pPr>
            <a:r>
              <a:t>Translating evidence-based behavioral psychology frameworks into local deterministic heuristics</a:t>
            </a:r>
          </a:p>
        </p:txBody>
      </p:sp>
      <p:sp>
        <p:nvSpPr>
          <p:cNvPr id="4" name="Rounded Rectangle 3"/>
          <p:cNvSpPr/>
          <p:nvPr/>
        </p:nvSpPr>
        <p:spPr>
          <a:xfrm>
            <a:off x="8686800" y="411480"/>
            <a:ext cx="2743200" cy="384048"/>
          </a:xfrm>
          <a:prstGeom prst="roundRect">
            <a:avLst/>
          </a:prstGeom>
          <a:solidFill>
            <a:srgbClr val="1E293B"/>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8B5CF6"/>
                </a:solidFill>
                <a:latin typeface="Arial"/>
              </a:defRPr>
            </a:pPr>
            <a:r>
              <a:t>🎤 Arsh (Roll No: C109)</a:t>
            </a:r>
          </a:p>
        </p:txBody>
      </p:sp>
      <p:sp>
        <p:nvSpPr>
          <p:cNvPr id="5" name="Rounded Rectangle 4"/>
          <p:cNvSpPr/>
          <p:nvPr/>
        </p:nvSpPr>
        <p:spPr>
          <a:xfrm>
            <a:off x="731520" y="1554480"/>
            <a:ext cx="2499055" cy="347472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b="1" sz="1300">
                <a:solidFill>
                  <a:srgbClr val="3B82F6"/>
                </a:solidFill>
                <a:latin typeface="Arial"/>
              </a:defRPr>
            </a:pPr>
            <a:r>
              <a:t>1. Habit Stacking</a:t>
            </a:r>
          </a:p>
          <a:p>
            <a:pPr>
              <a:spcBef>
                <a:spcPts val="300"/>
              </a:spcBef>
              <a:defRPr sz="1000">
                <a:solidFill>
                  <a:srgbClr val="94A3B8"/>
                </a:solidFill>
                <a:latin typeface="Arial"/>
              </a:defRPr>
            </a:pPr>
            <a:r>
              <a:t>• Principle: James Clear (Atomic Habits).</a:t>
            </a:r>
          </a:p>
          <a:p>
            <a:pPr>
              <a:spcBef>
                <a:spcPts val="300"/>
              </a:spcBef>
              <a:defRPr sz="1000">
                <a:solidFill>
                  <a:srgbClr val="94A3B8"/>
                </a:solidFill>
                <a:latin typeface="Arial"/>
              </a:defRPr>
            </a:pPr>
            <a:r>
              <a:t>• Identifies anchor habits (&gt;75% consistency) and pairs struggling habits (&lt;60%) with them.</a:t>
            </a:r>
          </a:p>
          <a:p>
            <a:pPr>
              <a:spcBef>
                <a:spcPts val="300"/>
              </a:spcBef>
              <a:defRPr sz="1000">
                <a:solidFill>
                  <a:srgbClr val="94A3B8"/>
                </a:solidFill>
                <a:latin typeface="Arial"/>
              </a:defRPr>
            </a:pPr>
            <a:r>
              <a:t>• Formula: 'Immediately after [Anchor], do [Struggling Habit] for 2 minutes.'</a:t>
            </a:r>
          </a:p>
        </p:txBody>
      </p:sp>
      <p:sp>
        <p:nvSpPr>
          <p:cNvPr id="6" name="Rounded Rectangle 5"/>
          <p:cNvSpPr/>
          <p:nvPr/>
        </p:nvSpPr>
        <p:spPr>
          <a:xfrm>
            <a:off x="3474720" y="1554480"/>
            <a:ext cx="2499055" cy="34747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b="1" sz="1300">
                <a:solidFill>
                  <a:srgbClr val="F59E0B"/>
                </a:solidFill>
                <a:latin typeface="Arial"/>
              </a:defRPr>
            </a:pPr>
            <a:r>
              <a:t>2. Weekend Slump</a:t>
            </a:r>
          </a:p>
          <a:p>
            <a:pPr>
              <a:spcBef>
                <a:spcPts val="300"/>
              </a:spcBef>
              <a:defRPr sz="1000">
                <a:solidFill>
                  <a:srgbClr val="94A3B8"/>
                </a:solidFill>
                <a:latin typeface="Arial"/>
              </a:defRPr>
            </a:pPr>
            <a:r>
              <a:t>• Principle: BJ Fogg (Tiny Habits).</a:t>
            </a:r>
          </a:p>
          <a:p>
            <a:pPr>
              <a:spcBef>
                <a:spcPts val="300"/>
              </a:spcBef>
              <a:defRPr sz="1000">
                <a:solidFill>
                  <a:srgbClr val="94A3B8"/>
                </a:solidFill>
                <a:latin typeface="Arial"/>
              </a:defRPr>
            </a:pPr>
            <a:r>
              <a:t>• Detects when weekend adherence drops &gt;25% below weekday levels.</a:t>
            </a:r>
          </a:p>
          <a:p>
            <a:pPr>
              <a:spcBef>
                <a:spcPts val="300"/>
              </a:spcBef>
              <a:defRPr sz="1000">
                <a:solidFill>
                  <a:srgbClr val="94A3B8"/>
                </a:solidFill>
                <a:latin typeface="Arial"/>
              </a:defRPr>
            </a:pPr>
            <a:r>
              <a:t>• Prescription: Adopt a Minimum Viable Habit (MVH)—scaling down target by 75% on weekends.</a:t>
            </a:r>
          </a:p>
        </p:txBody>
      </p:sp>
      <p:sp>
        <p:nvSpPr>
          <p:cNvPr id="7" name="Rounded Rectangle 6"/>
          <p:cNvSpPr/>
          <p:nvPr/>
        </p:nvSpPr>
        <p:spPr>
          <a:xfrm>
            <a:off x="6217920" y="1554480"/>
            <a:ext cx="2499055" cy="3474720"/>
          </a:xfrm>
          <a:prstGeom prst="roundRect">
            <a:avLst/>
          </a:prstGeom>
          <a:solidFill>
            <a:srgbClr val="1E293B"/>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b="1" sz="1300">
                <a:solidFill>
                  <a:srgbClr val="8B5CF6"/>
                </a:solidFill>
                <a:latin typeface="Arial"/>
              </a:defRPr>
            </a:pPr>
            <a:r>
              <a:t>3. Circadian Friction</a:t>
            </a:r>
          </a:p>
          <a:p>
            <a:pPr>
              <a:spcBef>
                <a:spcPts val="300"/>
              </a:spcBef>
              <a:defRPr sz="1000">
                <a:solidFill>
                  <a:srgbClr val="94A3B8"/>
                </a:solidFill>
                <a:latin typeface="Arial"/>
              </a:defRPr>
            </a:pPr>
            <a:r>
              <a:t>• Principle: Baumeister (Ego Depletion).</a:t>
            </a:r>
          </a:p>
          <a:p>
            <a:pPr>
              <a:spcBef>
                <a:spcPts val="300"/>
              </a:spcBef>
              <a:defRPr sz="1000">
                <a:solidFill>
                  <a:srgbClr val="94A3B8"/>
                </a:solidFill>
                <a:latin typeface="Arial"/>
              </a:defRPr>
            </a:pPr>
            <a:r>
              <a:t>• Analyzes hourly check-in timestamps against failure rates to identify willpower fatigue.</a:t>
            </a:r>
          </a:p>
          <a:p>
            <a:pPr>
              <a:spcBef>
                <a:spcPts val="300"/>
              </a:spcBef>
              <a:defRPr sz="1000">
                <a:solidFill>
                  <a:srgbClr val="94A3B8"/>
                </a:solidFill>
                <a:latin typeface="Arial"/>
              </a:defRPr>
            </a:pPr>
            <a:r>
              <a:t>• Outcome: Shifts habits from evening friction hours into morning focus windows.</a:t>
            </a:r>
          </a:p>
        </p:txBody>
      </p:sp>
      <p:sp>
        <p:nvSpPr>
          <p:cNvPr id="8" name="Rounded Rectangle 7"/>
          <p:cNvSpPr/>
          <p:nvPr/>
        </p:nvSpPr>
        <p:spPr>
          <a:xfrm>
            <a:off x="8961120" y="1554480"/>
            <a:ext cx="2499055" cy="34747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b="1" sz="1300">
                <a:solidFill>
                  <a:srgbClr val="10B981"/>
                </a:solidFill>
                <a:latin typeface="Arial"/>
              </a:defRPr>
            </a:pPr>
            <a:r>
              <a:t>4. Never Miss Twice</a:t>
            </a:r>
          </a:p>
          <a:p>
            <a:pPr>
              <a:spcBef>
                <a:spcPts val="300"/>
              </a:spcBef>
              <a:defRPr sz="1000">
                <a:solidFill>
                  <a:srgbClr val="94A3B8"/>
                </a:solidFill>
                <a:latin typeface="Arial"/>
              </a:defRPr>
            </a:pPr>
            <a:r>
              <a:t>• Principle: Identity Loop Protection.</a:t>
            </a:r>
          </a:p>
          <a:p>
            <a:pPr>
              <a:spcBef>
                <a:spcPts val="300"/>
              </a:spcBef>
              <a:defRPr sz="1000">
                <a:solidFill>
                  <a:srgbClr val="94A3B8"/>
                </a:solidFill>
                <a:latin typeface="Arial"/>
              </a:defRPr>
            </a:pPr>
            <a:r>
              <a:t>• Missing once is an accident; missing twice is the start of a negative habit.</a:t>
            </a:r>
          </a:p>
          <a:p>
            <a:pPr>
              <a:spcBef>
                <a:spcPts val="300"/>
              </a:spcBef>
              <a:defRPr sz="1000">
                <a:solidFill>
                  <a:srgbClr val="94A3B8"/>
                </a:solidFill>
                <a:latin typeface="Arial"/>
              </a:defRPr>
            </a:pPr>
            <a:r>
              <a:t>• Outcome: Elevates missed habits from yesterday to high priority before noon today.</a:t>
            </a:r>
          </a:p>
        </p:txBody>
      </p:sp>
      <p:sp>
        <p:nvSpPr>
          <p:cNvPr id="9" name="Rounded Rectangle 8"/>
          <p:cNvSpPr/>
          <p:nvPr/>
        </p:nvSpPr>
        <p:spPr>
          <a:xfrm>
            <a:off x="731520" y="5303520"/>
            <a:ext cx="10728655" cy="1188720"/>
          </a:xfrm>
          <a:prstGeom prst="roundRect">
            <a:avLst/>
          </a:prstGeom>
          <a:solidFill>
            <a:srgbClr val="0B1121"/>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rIns="137160" bIns="91440"/>
          <a:lstStyle/>
          <a:p>
            <a:pPr algn="ctr">
              <a:defRPr b="1" sz="950">
                <a:solidFill>
                  <a:srgbClr val="8B5CF6"/>
                </a:solidFill>
                <a:latin typeface="Arial"/>
              </a:defRPr>
            </a:pPr>
            <a:r>
              <a:t>SPEECH SCRIPT — ARSH (C109) (~1 min 20 sec):</a:t>
            </a:r>
          </a:p>
          <a:p>
            <a:pPr>
              <a:spcBef>
                <a:spcPts val="200"/>
              </a:spcBef>
              <a:defRPr i="1" sz="919">
                <a:solidFill>
                  <a:srgbClr val="F8FAFC"/>
                </a:solidFill>
                <a:latin typeface="Arial"/>
              </a:defRPr>
            </a:pPr>
            <a:r>
              <a:t>"Thank you, Aman. Good morning everyone. I will now present the brain of our application: the Rule-Based Behavioral Analytics Engine. Instead of treating habits as passive numbers, our engine implements four core behavioral psychology heuristics. First is James Clear's 'Habit Stacking': the engine scans historical logs to identify anchor habits with over 75% consistency—like morning coffee—and algorithmically prompts you to attach struggling habits directly to them. Second is BJ Fogg's 'Weekend Slump Detector': when weekday adherence is high but weekend consistency drops by over 25%, it prescribes a 'Minimum Viable Habit' scale-down. Third is Circadian Friction Analysis, which pinpoints ego depletion. Finally, our 'Never Miss Twice' rule flags any missed habit from yesterday for immediate morning recovery. All of this runs completely on-device."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1005840"/>
          </a:xfrm>
          <a:prstGeom prst="rect">
            <a:avLst/>
          </a:prstGeom>
          <a:noFill/>
        </p:spPr>
        <p:txBody>
          <a:bodyPr wrap="square" lIns="0" tIns="0" rIns="0" bIns="0">
            <a:spAutoFit/>
          </a:bodyPr>
          <a:lstStyle/>
          <a:p>
            <a:pPr>
              <a:defRPr b="1" sz="2200">
                <a:solidFill>
                  <a:srgbClr val="F8FAFC"/>
                </a:solidFill>
                <a:latin typeface="Arial"/>
              </a:defRPr>
            </a:pPr>
            <a:r>
              <a:t>User Interface &amp; Visual Progress Analytics</a:t>
            </a:r>
          </a:p>
          <a:p>
            <a:pPr>
              <a:spcBef>
                <a:spcPts val="300"/>
              </a:spcBef>
              <a:defRPr sz="1200">
                <a:solidFill>
                  <a:srgbClr val="94A3B8"/>
                </a:solidFill>
                <a:latin typeface="Arial"/>
              </a:defRPr>
            </a:pPr>
            <a:r>
              <a:t>Modern Material 3 dark/light design paired with hardware-accelerated fl_chart visualizations</a:t>
            </a:r>
          </a:p>
        </p:txBody>
      </p:sp>
      <p:sp>
        <p:nvSpPr>
          <p:cNvPr id="4" name="Rounded Rectangle 3"/>
          <p:cNvSpPr/>
          <p:nvPr/>
        </p:nvSpPr>
        <p:spPr>
          <a:xfrm>
            <a:off x="8686800" y="411480"/>
            <a:ext cx="2743200" cy="384048"/>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10B981"/>
                </a:solidFill>
                <a:latin typeface="Arial"/>
              </a:defRPr>
            </a:pPr>
            <a:r>
              <a:t>🎤 Arsh (Roll No: C109)</a:t>
            </a:r>
          </a:p>
        </p:txBody>
      </p:sp>
      <p:sp>
        <p:nvSpPr>
          <p:cNvPr id="5" name="Rounded Rectangle 4"/>
          <p:cNvSpPr/>
          <p:nvPr/>
        </p:nvSpPr>
        <p:spPr>
          <a:xfrm>
            <a:off x="731520" y="1554480"/>
            <a:ext cx="3413455" cy="34747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b="1" sz="1300">
                <a:solidFill>
                  <a:srgbClr val="10B981"/>
                </a:solidFill>
                <a:latin typeface="Arial"/>
              </a:defRPr>
            </a:pPr>
            <a:r>
              <a:t>1. Dashboard View</a:t>
            </a:r>
          </a:p>
          <a:p>
            <a:pPr>
              <a:spcBef>
                <a:spcPts val="300"/>
              </a:spcBef>
              <a:defRPr sz="1000">
                <a:solidFill>
                  <a:srgbClr val="94A3B8"/>
                </a:solidFill>
                <a:latin typeface="Arial"/>
              </a:defRPr>
            </a:pPr>
            <a:r>
              <a:t>• Horizontal Date Strip: Smooth day-by-day navigation.</a:t>
            </a:r>
          </a:p>
          <a:p>
            <a:pPr>
              <a:spcBef>
                <a:spcPts val="300"/>
              </a:spcBef>
              <a:defRPr sz="1000">
                <a:solidFill>
                  <a:srgbClr val="94A3B8"/>
                </a:solidFill>
                <a:latin typeface="Arial"/>
              </a:defRPr>
            </a:pPr>
            <a:r>
              <a:t>• Daily Progress Ring: Real-time completion percentage and counts.</a:t>
            </a:r>
          </a:p>
          <a:p>
            <a:pPr>
              <a:spcBef>
                <a:spcPts val="300"/>
              </a:spcBef>
              <a:defRPr sz="1000">
                <a:solidFill>
                  <a:srgbClr val="94A3B8"/>
                </a:solidFill>
                <a:latin typeface="Arial"/>
              </a:defRPr>
            </a:pPr>
            <a:r>
              <a:t>• Flame Streak Badges: Visual milestone indicators.</a:t>
            </a:r>
          </a:p>
          <a:p>
            <a:pPr>
              <a:spcBef>
                <a:spcPts val="300"/>
              </a:spcBef>
              <a:defRPr sz="1000">
                <a:solidFill>
                  <a:srgbClr val="94A3B8"/>
                </a:solidFill>
                <a:latin typeface="Arial"/>
              </a:defRPr>
            </a:pPr>
            <a:r>
              <a:t>• Tactile Check-ins: One-tap toggle with numeric counter (+/-) support.</a:t>
            </a:r>
          </a:p>
          <a:p>
            <a:pPr>
              <a:spcBef>
                <a:spcPts val="300"/>
              </a:spcBef>
              <a:defRPr sz="1000">
                <a:solidFill>
                  <a:srgbClr val="94A3B8"/>
                </a:solidFill>
                <a:latin typeface="Arial"/>
              </a:defRPr>
            </a:pPr>
            <a:r>
              <a:t>• Mood &amp; Reflection Dialog: 1–5 mood score and notes logging.</a:t>
            </a:r>
          </a:p>
        </p:txBody>
      </p:sp>
      <p:sp>
        <p:nvSpPr>
          <p:cNvPr id="6" name="Rounded Rectangle 5"/>
          <p:cNvSpPr/>
          <p:nvPr/>
        </p:nvSpPr>
        <p:spPr>
          <a:xfrm>
            <a:off x="4389120" y="1554480"/>
            <a:ext cx="3413455" cy="3474720"/>
          </a:xfrm>
          <a:prstGeom prst="roundRect">
            <a:avLst/>
          </a:prstGeom>
          <a:solidFill>
            <a:srgbClr val="1E293B"/>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b="1" sz="1300">
                <a:solidFill>
                  <a:srgbClr val="8B5CF6"/>
                </a:solidFill>
                <a:latin typeface="Arial"/>
              </a:defRPr>
            </a:pPr>
            <a:r>
              <a:t>2. Behavioral Feed</a:t>
            </a:r>
          </a:p>
          <a:p>
            <a:pPr>
              <a:spcBef>
                <a:spcPts val="300"/>
              </a:spcBef>
              <a:defRPr sz="1000">
                <a:solidFill>
                  <a:srgbClr val="94A3B8"/>
                </a:solidFill>
                <a:latin typeface="Arial"/>
              </a:defRPr>
            </a:pPr>
            <a:r>
              <a:t>• Habit Health Index: 0–100 overall procedural memory score.</a:t>
            </a:r>
          </a:p>
          <a:p>
            <a:pPr>
              <a:spcBef>
                <a:spcPts val="300"/>
              </a:spcBef>
              <a:defRPr sz="1000">
                <a:solidFill>
                  <a:srgbClr val="94A3B8"/>
                </a:solidFill>
                <a:latin typeface="Arial"/>
              </a:defRPr>
            </a:pPr>
            <a:r>
              <a:t>• Severity Color Codes: Urgent (Red), Warning (Amber), Suggestion (Indigo), Celebration (Green).</a:t>
            </a:r>
          </a:p>
          <a:p>
            <a:pPr>
              <a:spcBef>
                <a:spcPts val="300"/>
              </a:spcBef>
              <a:defRPr sz="1000">
                <a:solidFill>
                  <a:srgbClr val="94A3B8"/>
                </a:solidFill>
                <a:latin typeface="Arial"/>
              </a:defRPr>
            </a:pPr>
            <a:r>
              <a:t>• Psychology Tags: Cites underlying scientific theory.</a:t>
            </a:r>
          </a:p>
          <a:p>
            <a:pPr>
              <a:spcBef>
                <a:spcPts val="300"/>
              </a:spcBef>
              <a:defRPr sz="1000">
                <a:solidFill>
                  <a:srgbClr val="94A3B8"/>
                </a:solidFill>
                <a:latin typeface="Arial"/>
              </a:defRPr>
            </a:pPr>
            <a:r>
              <a:t>• Actionable Experiments: Concrete 2-minute micro-actions.</a:t>
            </a:r>
          </a:p>
        </p:txBody>
      </p:sp>
      <p:sp>
        <p:nvSpPr>
          <p:cNvPr id="7" name="Rounded Rectangle 6"/>
          <p:cNvSpPr/>
          <p:nvPr/>
        </p:nvSpPr>
        <p:spPr>
          <a:xfrm>
            <a:off x="8046720" y="1554480"/>
            <a:ext cx="3413455" cy="347472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b="1" sz="1300">
                <a:solidFill>
                  <a:srgbClr val="3B82F6"/>
                </a:solidFill>
                <a:latin typeface="Arial"/>
              </a:defRPr>
            </a:pPr>
            <a:r>
              <a:t>3. Analytics &amp; Heatmap</a:t>
            </a:r>
          </a:p>
          <a:p>
            <a:pPr>
              <a:spcBef>
                <a:spcPts val="300"/>
              </a:spcBef>
              <a:defRPr sz="1000">
                <a:solidFill>
                  <a:srgbClr val="94A3B8"/>
                </a:solidFill>
                <a:latin typeface="Arial"/>
              </a:defRPr>
            </a:pPr>
            <a:r>
              <a:t>• 7-Day Completion Bar Chart: Gradient daily completion bars.</a:t>
            </a:r>
          </a:p>
          <a:p>
            <a:pPr>
              <a:spcBef>
                <a:spcPts val="300"/>
              </a:spcBef>
              <a:defRPr sz="1000">
                <a:solidFill>
                  <a:srgbClr val="94A3B8"/>
                </a:solidFill>
                <a:latin typeface="Arial"/>
              </a:defRPr>
            </a:pPr>
            <a:r>
              <a:t>• 28-Day Consistency Heatmap: GitHub-style activity grid visualizing day-by-day execution density.</a:t>
            </a:r>
          </a:p>
          <a:p>
            <a:pPr>
              <a:spcBef>
                <a:spcPts val="300"/>
              </a:spcBef>
              <a:defRPr sz="1000">
                <a:solidFill>
                  <a:srgbClr val="94A3B8"/>
                </a:solidFill>
                <a:latin typeface="Arial"/>
              </a:defRPr>
            </a:pPr>
            <a:r>
              <a:t>• Category Allocation Donut: Distribution across Health, Work, Mind, Fitness.</a:t>
            </a:r>
          </a:p>
          <a:p>
            <a:pPr>
              <a:spcBef>
                <a:spcPts val="300"/>
              </a:spcBef>
              <a:defRPr sz="1000">
                <a:solidFill>
                  <a:srgbClr val="94A3B8"/>
                </a:solidFill>
                <a:latin typeface="Arial"/>
              </a:defRPr>
            </a:pPr>
            <a:r>
              <a:t>• Leaderboard: Best active and historical streaks per habit.</a:t>
            </a:r>
          </a:p>
        </p:txBody>
      </p:sp>
      <p:sp>
        <p:nvSpPr>
          <p:cNvPr id="8" name="Rounded Rectangle 7"/>
          <p:cNvSpPr/>
          <p:nvPr/>
        </p:nvSpPr>
        <p:spPr>
          <a:xfrm>
            <a:off x="731520" y="5303520"/>
            <a:ext cx="10728655" cy="1188720"/>
          </a:xfrm>
          <a:prstGeom prst="roundRect">
            <a:avLst/>
          </a:prstGeom>
          <a:solidFill>
            <a:srgbClr val="0B1121"/>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rIns="137160" bIns="91440"/>
          <a:lstStyle/>
          <a:p>
            <a:pPr algn="ctr">
              <a:defRPr b="1" sz="950">
                <a:solidFill>
                  <a:srgbClr val="8B5CF6"/>
                </a:solidFill>
                <a:latin typeface="Arial"/>
              </a:defRPr>
            </a:pPr>
            <a:r>
              <a:t>SPEECH SCRIPT — ARSH (C109) (~1 min 15 sec):</a:t>
            </a:r>
          </a:p>
          <a:p>
            <a:pPr>
              <a:spcBef>
                <a:spcPts val="200"/>
              </a:spcBef>
              <a:defRPr i="1" sz="919">
                <a:solidFill>
                  <a:srgbClr val="F8FAFC"/>
                </a:solidFill>
                <a:latin typeface="Arial"/>
              </a:defRPr>
            </a:pPr>
            <a:r>
              <a:t>"A behavioral engine is only as effective as the user interface delivering it. On screen, you see our three primary user views. The Dashboard provides a clean horizontal calendar strip, a daily completion ring, and flame streak badges with tactile one-tap toggling. Tapping any habit allows the user to record mood ratings from 1 to 5 and reflection notes. In the Insights tab, the user receives an overall Habit Health Index from 0 to 100 alongside categorized cards detailing the exact psychological principle and an actionable micro-step. Finally, in our Analytics screen powered by fl_chart, users can inspect their 7-day completion rates, category distribution, and a 28-day GitHub-style activity heatmap."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772400" cy="1005840"/>
          </a:xfrm>
          <a:prstGeom prst="rect">
            <a:avLst/>
          </a:prstGeom>
          <a:noFill/>
        </p:spPr>
        <p:txBody>
          <a:bodyPr wrap="square" lIns="0" tIns="0" rIns="0" bIns="0">
            <a:spAutoFit/>
          </a:bodyPr>
          <a:lstStyle/>
          <a:p>
            <a:pPr>
              <a:defRPr b="1" sz="2200">
                <a:solidFill>
                  <a:srgbClr val="F8FAFC"/>
                </a:solidFill>
                <a:latin typeface="Arial"/>
              </a:defRPr>
            </a:pPr>
            <a:r>
              <a:t>Verification, Challenges &amp; Future Roadmap</a:t>
            </a:r>
          </a:p>
          <a:p>
            <a:pPr>
              <a:spcBef>
                <a:spcPts val="300"/>
              </a:spcBef>
              <a:defRPr sz="1200">
                <a:solidFill>
                  <a:srgbClr val="94A3B8"/>
                </a:solidFill>
                <a:latin typeface="Arial"/>
              </a:defRPr>
            </a:pPr>
            <a:r>
              <a:t>Automated unit testing, technical hurdles overcome, and project conclusion</a:t>
            </a:r>
          </a:p>
        </p:txBody>
      </p:sp>
      <p:sp>
        <p:nvSpPr>
          <p:cNvPr id="4" name="Rounded Rectangle 3"/>
          <p:cNvSpPr/>
          <p:nvPr/>
        </p:nvSpPr>
        <p:spPr>
          <a:xfrm>
            <a:off x="8686800" y="411480"/>
            <a:ext cx="2743200" cy="384048"/>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10B981"/>
                </a:solidFill>
                <a:latin typeface="Arial"/>
              </a:defRPr>
            </a:pPr>
            <a:r>
              <a:t>🎤 Arsh (Roll No: C109)</a:t>
            </a:r>
          </a:p>
        </p:txBody>
      </p:sp>
      <p:sp>
        <p:nvSpPr>
          <p:cNvPr id="5" name="Rounded Rectangle 4"/>
          <p:cNvSpPr/>
          <p:nvPr/>
        </p:nvSpPr>
        <p:spPr>
          <a:xfrm>
            <a:off x="731520" y="1554480"/>
            <a:ext cx="3413455" cy="34747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b="1" sz="1300">
                <a:solidFill>
                  <a:srgbClr val="10B981"/>
                </a:solidFill>
                <a:latin typeface="Arial"/>
              </a:defRPr>
            </a:pPr>
            <a:r>
              <a:t>Testing &amp; Verification</a:t>
            </a:r>
          </a:p>
          <a:p>
            <a:pPr>
              <a:spcBef>
                <a:spcPts val="300"/>
              </a:spcBef>
              <a:defRPr sz="1000">
                <a:solidFill>
                  <a:srgbClr val="94A3B8"/>
                </a:solidFill>
                <a:latin typeface="Arial"/>
              </a:defRPr>
            </a:pPr>
            <a:r>
              <a:t>• 100% Automated Test Pass Rate across 7 core test cases:</a:t>
            </a:r>
          </a:p>
          <a:p>
            <a:pPr>
              <a:spcBef>
                <a:spcPts val="300"/>
              </a:spcBef>
              <a:defRPr sz="1000">
                <a:solidFill>
                  <a:srgbClr val="94A3B8"/>
                </a:solidFill>
                <a:latin typeface="Arial"/>
              </a:defRPr>
            </a:pPr>
            <a:r>
              <a:t>• ✓ Streak-at-Risk detection verified.</a:t>
            </a:r>
          </a:p>
          <a:p>
            <a:pPr>
              <a:spcBef>
                <a:spcPts val="300"/>
              </a:spcBef>
              <a:defRPr sz="1000">
                <a:solidFill>
                  <a:srgbClr val="94A3B8"/>
                </a:solidFill>
                <a:latin typeface="Arial"/>
              </a:defRPr>
            </a:pPr>
            <a:r>
              <a:t>• ✓ Habit Stacking anchor coupling verified.</a:t>
            </a:r>
          </a:p>
          <a:p>
            <a:pPr>
              <a:spcBef>
                <a:spcPts val="300"/>
              </a:spcBef>
              <a:defRPr sz="1000">
                <a:solidFill>
                  <a:srgbClr val="94A3B8"/>
                </a:solidFill>
                <a:latin typeface="Arial"/>
              </a:defRPr>
            </a:pPr>
            <a:r>
              <a:t>• ✓ Weekend Slump calculation verified.</a:t>
            </a:r>
          </a:p>
          <a:p>
            <a:pPr>
              <a:spcBef>
                <a:spcPts val="300"/>
              </a:spcBef>
              <a:defRPr sz="1000">
                <a:solidFill>
                  <a:srgbClr val="94A3B8"/>
                </a:solidFill>
                <a:latin typeface="Arial"/>
              </a:defRPr>
            </a:pPr>
            <a:r>
              <a:t>• ✓ Circadian Timing grouping verified.</a:t>
            </a:r>
          </a:p>
          <a:p>
            <a:pPr>
              <a:spcBef>
                <a:spcPts val="300"/>
              </a:spcBef>
              <a:defRPr sz="1000">
                <a:solidFill>
                  <a:srgbClr val="94A3B8"/>
                </a:solidFill>
                <a:latin typeface="Arial"/>
              </a:defRPr>
            </a:pPr>
            <a:r>
              <a:t>• ✓ SQLite JSON serialization verified.</a:t>
            </a:r>
          </a:p>
          <a:p>
            <a:pPr>
              <a:spcBef>
                <a:spcPts val="300"/>
              </a:spcBef>
              <a:defRPr sz="1000">
                <a:solidFill>
                  <a:srgbClr val="94A3B8"/>
                </a:solidFill>
                <a:latin typeface="Arial"/>
              </a:defRPr>
            </a:pPr>
            <a:r>
              <a:t>• ✓ Zero dart analyze warnings or lints.</a:t>
            </a:r>
          </a:p>
        </p:txBody>
      </p:sp>
      <p:sp>
        <p:nvSpPr>
          <p:cNvPr id="6" name="Rounded Rectangle 5"/>
          <p:cNvSpPr/>
          <p:nvPr/>
        </p:nvSpPr>
        <p:spPr>
          <a:xfrm>
            <a:off x="4389120" y="1554480"/>
            <a:ext cx="3413455" cy="34747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b="1" sz="1300">
                <a:solidFill>
                  <a:srgbClr val="F59E0B"/>
                </a:solidFill>
                <a:latin typeface="Arial"/>
              </a:defRPr>
            </a:pPr>
            <a:r>
              <a:t>Engineering Challenges</a:t>
            </a:r>
          </a:p>
          <a:p>
            <a:pPr>
              <a:spcBef>
                <a:spcPts val="300"/>
              </a:spcBef>
              <a:defRPr sz="1000">
                <a:solidFill>
                  <a:srgbClr val="94A3B8"/>
                </a:solidFill>
                <a:latin typeface="Arial"/>
              </a:defRPr>
            </a:pPr>
            <a:r>
              <a:t>• WorkManager Isolate Communication: Initializing SQLite singletons cleanly across independent background Dart isolates.</a:t>
            </a:r>
          </a:p>
          <a:p>
            <a:pPr>
              <a:spcBef>
                <a:spcPts val="300"/>
              </a:spcBef>
              <a:defRPr sz="1000">
                <a:solidFill>
                  <a:srgbClr val="94A3B8"/>
                </a:solidFill>
                <a:latin typeface="Arial"/>
              </a:defRPr>
            </a:pPr>
            <a:r>
              <a:t>• Custom Frequency Calculations: Preserving streaks across alternate-day and weekday-only habits without false breaks.</a:t>
            </a:r>
          </a:p>
          <a:p>
            <a:pPr>
              <a:spcBef>
                <a:spcPts val="300"/>
              </a:spcBef>
              <a:defRPr sz="1000">
                <a:solidFill>
                  <a:srgbClr val="94A3B8"/>
                </a:solidFill>
                <a:latin typeface="Arial"/>
              </a:defRPr>
            </a:pPr>
            <a:r>
              <a:t>• Realistic Demo Seeder: Populating 21 days of realistic historical logs for instant evaluation.</a:t>
            </a:r>
          </a:p>
        </p:txBody>
      </p:sp>
      <p:sp>
        <p:nvSpPr>
          <p:cNvPr id="7" name="Rounded Rectangle 6"/>
          <p:cNvSpPr/>
          <p:nvPr/>
        </p:nvSpPr>
        <p:spPr>
          <a:xfrm>
            <a:off x="8046720" y="1554480"/>
            <a:ext cx="3413455" cy="3474720"/>
          </a:xfrm>
          <a:prstGeom prst="roundRect">
            <a:avLst/>
          </a:prstGeom>
          <a:solidFill>
            <a:srgbClr val="1E293B"/>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rIns="137160" bIns="137160"/>
          <a:lstStyle/>
          <a:p>
            <a:pPr algn="ctr">
              <a:defRPr b="1" sz="1300">
                <a:solidFill>
                  <a:srgbClr val="8B5CF6"/>
                </a:solidFill>
                <a:latin typeface="Arial"/>
              </a:defRPr>
            </a:pPr>
            <a:r>
              <a:t>Future Roadmap &amp; Conclusion</a:t>
            </a:r>
          </a:p>
          <a:p>
            <a:pPr>
              <a:spcBef>
                <a:spcPts val="300"/>
              </a:spcBef>
              <a:defRPr sz="1000">
                <a:solidFill>
                  <a:srgbClr val="94A3B8"/>
                </a:solidFill>
                <a:latin typeface="Arial"/>
              </a:defRPr>
            </a:pPr>
            <a:r>
              <a:t>• On-Device Quantized SLM: Integrating Google Gemma 2B via MediaPipe for natural conversational coaching.</a:t>
            </a:r>
          </a:p>
          <a:p>
            <a:pPr>
              <a:spcBef>
                <a:spcPts val="300"/>
              </a:spcBef>
              <a:defRPr sz="1000">
                <a:solidFill>
                  <a:srgbClr val="94A3B8"/>
                </a:solidFill>
                <a:latin typeface="Arial"/>
              </a:defRPr>
            </a:pPr>
            <a:r>
              <a:t>• Wear OS Sync: Direct companion watch check-ins via local Bluetooth.</a:t>
            </a:r>
          </a:p>
          <a:p>
            <a:pPr>
              <a:spcBef>
                <a:spcPts val="300"/>
              </a:spcBef>
              <a:defRPr sz="1000">
                <a:solidFill>
                  <a:srgbClr val="94A3B8"/>
                </a:solidFill>
                <a:latin typeface="Arial"/>
              </a:defRPr>
            </a:pPr>
            <a:r>
              <a:t>• Summary: A fully functional, battery-efficient, offline-first mobile app that empowers proactive behavioral change.</a:t>
            </a:r>
          </a:p>
        </p:txBody>
      </p:sp>
      <p:sp>
        <p:nvSpPr>
          <p:cNvPr id="8" name="Rounded Rectangle 7"/>
          <p:cNvSpPr/>
          <p:nvPr/>
        </p:nvSpPr>
        <p:spPr>
          <a:xfrm>
            <a:off x="731520" y="5303520"/>
            <a:ext cx="10728655" cy="1188720"/>
          </a:xfrm>
          <a:prstGeom prst="roundRect">
            <a:avLst/>
          </a:prstGeom>
          <a:solidFill>
            <a:srgbClr val="0B1121"/>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rIns="137160" bIns="91440"/>
          <a:lstStyle/>
          <a:p>
            <a:pPr algn="ctr">
              <a:defRPr b="1" sz="950">
                <a:solidFill>
                  <a:srgbClr val="8B5CF6"/>
                </a:solidFill>
                <a:latin typeface="Arial"/>
              </a:defRPr>
            </a:pPr>
            <a:r>
              <a:t>SPEECH SCRIPT — ARSH (C109) (~1 min 15 sec):</a:t>
            </a:r>
          </a:p>
          <a:p>
            <a:pPr>
              <a:spcBef>
                <a:spcPts val="200"/>
              </a:spcBef>
              <a:defRPr i="1" sz="919">
                <a:solidFill>
                  <a:srgbClr val="F8FAFC"/>
                </a:solidFill>
                <a:latin typeface="Arial"/>
              </a:defRPr>
            </a:pPr>
            <a:r>
              <a:t>"To conclude, our system was rigorously verified. We wrote automated unit test suites covering streak calculations, habit stacking detection, weekend slump ratios, and JSON serialization—achieving a 100% pass rate with zero dart analyze lint errors. We overcame significant hurdles regarding background isolate memory sharing in WorkManager and custom frequency streak algorithms. Looking forward, our architecture is primed for integrating on-device quantized Small Language Models like Gemma 2B via MediaPipe for conversational coaching without sacrificing user privacy. Our team—Soham, Aman, and myself—thank you for your time. We now welcome 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