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5F0EB"/>
                </a:solidFill>
                <a:latin typeface="Georgia"/>
              </a:defRPr>
            </a:pPr>
            <a:r>
              <a:t>Offline-First Habit Tracker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4A27A"/>
                </a:solidFill>
                <a:latin typeface="Georgia"/>
              </a:defRPr>
            </a:pPr>
            <a:r>
              <a:t>with Local Rule-Based Behavioral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Mobile Application Development — Capstone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100297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1">
                <a:solidFill>
                  <a:srgbClr val="7D7066"/>
                </a:solidFill>
                <a:latin typeface="Calibri"/>
              </a:defRPr>
            </a:pPr>
            <a:r>
              <a:t>A privacy-sovereign mobile application engineered to track daily routines, prevent streak collapse, and deliver algorithmic cognitive coaching — without transmitting a single byte to cloud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86000"/>
            <a:ext cx="3557930" cy="155448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F4A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F4A27A"/>
                </a:solidFill>
                <a:latin typeface="Georgia"/>
              </a:defRPr>
            </a:pPr>
            <a: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423160"/>
            <a:ext cx="268925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5F0EB"/>
                </a:solidFill>
                <a:latin typeface="Georgia"/>
              </a:defRPr>
            </a:pPr>
            <a:r>
              <a:t>Soham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724912"/>
            <a:ext cx="268925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93C5E8"/>
                </a:solidFill>
                <a:latin typeface="Courier New"/>
              </a:defRPr>
            </a:pPr>
            <a:r>
              <a:t>C096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35808"/>
            <a:ext cx="328361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Motivation, Problem Domain &amp; Architecture Conception — Slides 1–3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6882" y="2286000"/>
            <a:ext cx="3557930" cy="155448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4042" y="24231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7ECBAC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0114" y="2423160"/>
            <a:ext cx="268925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5F0EB"/>
                </a:solidFill>
                <a:latin typeface="Georgia"/>
              </a:defRPr>
            </a:pPr>
            <a:r>
              <a:t>Aman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0114" y="2724912"/>
            <a:ext cx="268925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93C5E8"/>
                </a:solidFill>
                <a:latin typeface="Courier New"/>
              </a:defRPr>
            </a:pPr>
            <a:r>
              <a:t>C106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4042" y="3035808"/>
            <a:ext cx="328361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Technical Stack, SQLite Schema &amp; WorkManager Services — Slides 4–6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404" y="2286000"/>
            <a:ext cx="3557930" cy="155448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6564" y="24231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B39DDB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2636" y="2423160"/>
            <a:ext cx="268925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5F0EB"/>
                </a:solidFill>
                <a:latin typeface="Georgia"/>
              </a:defRPr>
            </a:pPr>
            <a:r>
              <a:t>Arsh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2636" y="2724912"/>
            <a:ext cx="268925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93C5E8"/>
                </a:solidFill>
                <a:latin typeface="Courier New"/>
              </a:defRPr>
            </a:pPr>
            <a:r>
              <a:t>C109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6564" y="3035808"/>
            <a:ext cx="328361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Behavioral Analytics Engine, fl_chart UI &amp; Verification — Slides 7–9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77639"/>
            <a:ext cx="1719072" cy="256032"/>
          </a:xfrm>
          <a:prstGeom prst="roundRect">
            <a:avLst/>
          </a:prstGeom>
          <a:solidFill>
            <a:srgbClr val="1A1720"/>
          </a:solidFill>
          <a:ln w="9525">
            <a:solidFill>
              <a:srgbClr val="352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5739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Flutter 3.x / Dart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2304" y="3977639"/>
            <a:ext cx="1719072" cy="256032"/>
          </a:xfrm>
          <a:prstGeom prst="roundRect">
            <a:avLst/>
          </a:prstGeom>
          <a:solidFill>
            <a:srgbClr val="1A1720"/>
          </a:solidFill>
          <a:ln w="9525">
            <a:solidFill>
              <a:srgbClr val="352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4015739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SQLite · sqflite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3977639"/>
            <a:ext cx="1719072" cy="256032"/>
          </a:xfrm>
          <a:prstGeom prst="roundRect">
            <a:avLst/>
          </a:prstGeom>
          <a:solidFill>
            <a:srgbClr val="1A1720"/>
          </a:solidFill>
          <a:ln w="9525">
            <a:solidFill>
              <a:srgbClr val="352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4015739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Android WorkManager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08192" y="3977639"/>
            <a:ext cx="1719072" cy="256032"/>
          </a:xfrm>
          <a:prstGeom prst="roundRect">
            <a:avLst/>
          </a:prstGeom>
          <a:solidFill>
            <a:srgbClr val="1A1720"/>
          </a:solidFill>
          <a:ln w="9525">
            <a:solidFill>
              <a:srgbClr val="352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015739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Provider MVVM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46136" y="3977639"/>
            <a:ext cx="1719072" cy="256032"/>
          </a:xfrm>
          <a:prstGeom prst="roundRect">
            <a:avLst/>
          </a:prstGeom>
          <a:solidFill>
            <a:srgbClr val="1A1720"/>
          </a:solidFill>
          <a:ln w="9525">
            <a:solidFill>
              <a:srgbClr val="352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4015739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fl_chart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3977639"/>
            <a:ext cx="1719072" cy="256032"/>
          </a:xfrm>
          <a:prstGeom prst="roundRect">
            <a:avLst/>
          </a:prstGeom>
          <a:solidFill>
            <a:srgbClr val="1A1720"/>
          </a:solidFill>
          <a:ln w="9525">
            <a:solidFill>
              <a:srgbClr val="352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4015739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Local Heuristics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407408"/>
            <a:ext cx="1100297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1">
                <a:solidFill>
                  <a:srgbClr val="4A4340"/>
                </a:solidFill>
                <a:latin typeface="Calibri"/>
              </a:defRPr>
            </a:pPr>
            <a:r>
              <a:t>Soham (C096)  ·  Aman (C106)  ·  Arsh (C109)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Problem Statement &amp; Motivation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The systemic failures of cloud-dependent habit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400000"/>
          </a:solidFill>
          <a:ln w="7620">
            <a:solidFill>
              <a:srgbClr val="F4A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F4A27A"/>
                </a:solidFill>
                <a:latin typeface="Calibri"/>
              </a:defRPr>
            </a:pPr>
            <a:r>
              <a:t>The Core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Soham · C096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F4A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Cloud Lock-in &amp;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Personal habits — mental health, medication, sleep — constitute sensitive human telemetry.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Apps mandate cloud logins &amp; analytics SDKs.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Routines stored on third-party ad servers.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Vulnerable to breaches and policy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6882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E8B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1474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1474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Offline Fragility &amp;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1474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Check-ins happen during transit, gym basements, or flights — where cloud apps fail.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1474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Cloud apps stall without Wi-Fi.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Latency disrupts seamless one-tap check-ins.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Sync conflicts erase active streak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404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3996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Passive Checkboxes, No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Traditional trackers are dumb checklists — no psychology, no situational awareness.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No detection of weekend drops or burnout.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No actionable habit stacking or scaling.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Users abandon once a single streak breaks.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Proposed Solution: The Offline Cognitive Companion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Three pillars of autonomous local habit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001700"/>
          </a:solidFill>
          <a:ln w="762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7ECBAC"/>
                </a:solidFill>
                <a:latin typeface="Calibri"/>
              </a:defRPr>
            </a:pPr>
            <a:r>
              <a:t>System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Soham · C096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1. Absolute Local Sovereignty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Zero reliance on remote servers, external APIs, or authentication barriers.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Embedded SQLite stores 100% of data on-device.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Sub-millisecond read/write on every habit toggle.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Zero battery drain from background network polling.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6882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93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1474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1474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2. Rule-Based Behavioral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1474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Deterministic local implementation of established behavioral psychology frameworks.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1474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James Clear: Habit Stacking — procedural coupling.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BJ Fogg B=MAP: Weekend slump &amp; ability curves.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Kahneman: Loss Aversion — streak defense urgency.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404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E8B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3996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3. Background Guardian (WorkManager)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Autonomous background intelligence within Android OS constraints.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Inspects SQLite logs opportunistically, screen off.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Dispatches streak defense alerts before midnight.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Ensures momentum never collapses unassisted.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Technical Architecture &amp; Tech Stack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Layered MVVM separation for high-performance offline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001134"/>
          </a:solidFill>
          <a:ln w="7620">
            <a:solidFill>
              <a:srgbClr val="93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93C5E8"/>
                </a:solidFill>
                <a:latin typeface="Calibri"/>
              </a:defRPr>
            </a:pPr>
            <a:r>
              <a:t>Architecture · Aman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Aman · C106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6051636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93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08760"/>
            <a:ext cx="57224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🏗️  Layered MVVM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01368"/>
            <a:ext cx="57224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Strict separation keeps UI rendering, behavioral analytics, and DB I/O decoupled.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48840"/>
            <a:ext cx="5777316" cy="3383280"/>
          </a:xfrm>
          <a:prstGeom prst="roundRect">
            <a:avLst/>
          </a:prstGeom>
          <a:solidFill>
            <a:srgbClr val="0A090C"/>
          </a:solidFill>
          <a:ln w="9525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25040"/>
            <a:ext cx="5548716" cy="3246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800" b="0" i="0">
                <a:solidFill>
                  <a:srgbClr val="4A4340"/>
                </a:solidFill>
                <a:latin typeface="Courier New"/>
              </a:defRPr>
            </a:pPr>
            <a:r>
              <a:t>// Clean Architectural Layers — lib/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3C5E8"/>
                </a:solidFill>
                <a:latin typeface="Courier New"/>
              </a:defRPr>
            </a:pPr>
            <a:r>
              <a:t>├── Presentation Layer (UI)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│   ├── Views: Dashboard, Insights, Analytics, Settings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│   └── ViewModels: HabitVM, InsightsVM, StatsVM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3C5E8"/>
                </a:solidFill>
                <a:latin typeface="Courier New"/>
              </a:defRPr>
            </a:pPr>
            <a:r>
              <a:t>├── Domain Layer (Behavioral Core)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│   ├── BehavioralInsightsEngine (pure heuristics)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│   └── LocalCoachPrompts (psychology templates)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3C5E8"/>
                </a:solidFill>
                <a:latin typeface="Courier New"/>
              </a:defRPr>
            </a:pPr>
            <a:r>
              <a:t>├── Data Layer (Local SQLite Engine)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│   ├── HabitRepository &amp; InsightsRepository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│   └── DatabaseHelper (singleton + migrations)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93C5E8"/>
                </a:solidFill>
                <a:latin typeface="Courier New"/>
              </a:defRPr>
            </a:pPr>
            <a:r>
              <a:t>└── Background Services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    ├── WorkManager callbackDispatcher isolate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  <a:r>
              <a:t>    └── FlutterLocalNotificationsPlugin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0588" y="1371600"/>
            <a:ext cx="4786746" cy="3072384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F4A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5180" y="1508760"/>
            <a:ext cx="445756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Core 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5180" y="1828800"/>
            <a:ext cx="4457562" cy="2478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3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Flutter 3.44 / Dart 3.12: Native ARM compilation, 60/120 FPS.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sqflite: Embedded ACID-compliant SQL engine.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Provider: Reactive MVVM, clean DI.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fl_chart: Hardware-accelerated charts.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WorkManager API: Battery-efficient background 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0588" y="4608576"/>
            <a:ext cx="4786746" cy="1883664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5180" y="4718304"/>
            <a:ext cx="445756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Performance &amp; Offline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5180" y="5020056"/>
            <a:ext cx="1412702" cy="640080"/>
          </a:xfrm>
          <a:prstGeom prst="roundRect">
            <a:avLst/>
          </a:prstGeom>
          <a:solidFill>
            <a:srgbClr val="1F1B26"/>
          </a:solidFill>
          <a:ln w="9525">
            <a:solidFill>
              <a:srgbClr val="3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0900" y="5096256"/>
            <a:ext cx="132126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 i="0">
                <a:solidFill>
                  <a:srgbClr val="7ECBAC"/>
                </a:solidFill>
                <a:latin typeface="Georgia"/>
              </a:defRPr>
            </a:pPr>
            <a:r>
              <a:t>&lt;350ms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0900" y="5340096"/>
            <a:ext cx="132126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alibri"/>
              </a:defRPr>
            </a:pPr>
            <a:r>
              <a:t>Cold Boot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97610" y="5020056"/>
            <a:ext cx="1412702" cy="640080"/>
          </a:xfrm>
          <a:prstGeom prst="roundRect">
            <a:avLst/>
          </a:prstGeom>
          <a:solidFill>
            <a:srgbClr val="1F1B26"/>
          </a:solidFill>
          <a:ln w="9525">
            <a:solidFill>
              <a:srgbClr val="3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3330" y="5096256"/>
            <a:ext cx="132126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 i="0">
                <a:solidFill>
                  <a:srgbClr val="7ECBAC"/>
                </a:solidFill>
                <a:latin typeface="Georgia"/>
              </a:defRPr>
            </a:pPr>
            <a:r>
              <a:t>&lt;10ms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3330" y="5340096"/>
            <a:ext cx="132126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alibri"/>
              </a:defRPr>
            </a:pPr>
            <a:r>
              <a:t>Query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040" y="5020056"/>
            <a:ext cx="1412702" cy="640080"/>
          </a:xfrm>
          <a:prstGeom prst="roundRect">
            <a:avLst/>
          </a:prstGeom>
          <a:solidFill>
            <a:srgbClr val="1F1B26"/>
          </a:solidFill>
          <a:ln w="9525">
            <a:solidFill>
              <a:srgbClr val="3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5760" y="5096256"/>
            <a:ext cx="132126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 i="0">
                <a:solidFill>
                  <a:srgbClr val="7ECBAC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5760" y="5340096"/>
            <a:ext cx="132126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7D7066"/>
                </a:solidFill>
                <a:latin typeface="Calibri"/>
              </a:defRPr>
            </a:pPr>
            <a:r>
              <a:t>Network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SQLite Database Schema &amp; Data Integrity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Relational tables, compound indexing, and cascade relationships in local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001700"/>
          </a:solidFill>
          <a:ln w="762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7ECBAC"/>
                </a:solidFill>
                <a:latin typeface="Calibri"/>
              </a:defRPr>
            </a:pPr>
            <a:r>
              <a:t>Data Layer · Aman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Aman · C106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721547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08760"/>
            <a:ext cx="539236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1. Core Relational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47088"/>
            <a:ext cx="5447227" cy="1252728"/>
          </a:xfrm>
          <a:prstGeom prst="roundRect">
            <a:avLst/>
          </a:prstGeom>
          <a:solidFill>
            <a:srgbClr val="1F1B26"/>
          </a:solidFill>
          <a:ln w="9525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11096"/>
            <a:ext cx="1716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F5F0EB"/>
                </a:solidFill>
                <a:latin typeface="Courier New"/>
              </a:defRPr>
            </a:pPr>
            <a:r>
              <a:t>habits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26319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id, title, category, color_value,</a:t>
            </a:r>
            <a:br/>
            <a:r>
              <a:t>target_count, reminder_time, anchor_habit_id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733" y="1911096"/>
            <a:ext cx="2174187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0">
                <a:solidFill>
                  <a:srgbClr val="E8B86D"/>
                </a:solidFill>
                <a:latin typeface="Courier New"/>
              </a:defRPr>
            </a:pPr>
            <a:r>
              <a:t>PK(id)  FK self-ref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45536"/>
            <a:ext cx="5447227" cy="1252728"/>
          </a:xfrm>
          <a:prstGeom prst="roundRect">
            <a:avLst/>
          </a:prstGeom>
          <a:solidFill>
            <a:srgbClr val="18151D"/>
          </a:solidFill>
          <a:ln w="9525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9544"/>
            <a:ext cx="1716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F5F0EB"/>
                </a:solidFill>
                <a:latin typeface="Courier New"/>
              </a:defRPr>
            </a:pPr>
            <a:r>
              <a:t>habit_logs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47288"/>
            <a:ext cx="26319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id, habit_id, date, status, value,</a:t>
            </a:r>
            <a:br/>
            <a:r>
              <a:t>notes, logged_at, mood_score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733" y="3209544"/>
            <a:ext cx="2174187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0">
                <a:solidFill>
                  <a:srgbClr val="E8B86D"/>
                </a:solidFill>
                <a:latin typeface="Courier New"/>
              </a:defRPr>
            </a:pPr>
            <a:r>
              <a:t>PK(id)  FK habit_id</a:t>
            </a:r>
            <a:br/>
            <a:r>
              <a:t>UNIQUE(habit_id, date)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43984"/>
            <a:ext cx="5447227" cy="1252728"/>
          </a:xfrm>
          <a:prstGeom prst="roundRect">
            <a:avLst/>
          </a:prstGeom>
          <a:solidFill>
            <a:srgbClr val="1F1B26"/>
          </a:solidFill>
          <a:ln w="9525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07992"/>
            <a:ext cx="1716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F5F0EB"/>
                </a:solidFill>
                <a:latin typeface="Courier New"/>
              </a:defRPr>
            </a:pPr>
            <a:r>
              <a:t>behavioral_insights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45736"/>
            <a:ext cx="26319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0">
                <a:solidFill>
                  <a:srgbClr val="7D7066"/>
                </a:solidFill>
                <a:latin typeface="Courier New"/>
              </a:defRPr>
            </a:pPr>
            <a:r>
              <a:t>id, habit_id, type, title, message,</a:t>
            </a:r>
            <a:br/>
            <a:r>
              <a:t>actionable_step, severity, is_dismissed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3733" y="4507992"/>
            <a:ext cx="2174187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0">
                <a:solidFill>
                  <a:srgbClr val="E8B86D"/>
                </a:solidFill>
                <a:latin typeface="Courier New"/>
              </a:defRPr>
            </a:pPr>
            <a:r>
              <a:t>PK(id)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6080760"/>
            <a:ext cx="5392363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1">
                <a:solidFill>
                  <a:srgbClr val="7ECBAC"/>
                </a:solidFill>
                <a:latin typeface="Calibri"/>
              </a:defRPr>
            </a:pPr>
            <a:r>
              <a:t>UNIQUE(habit_id, date) guarantees idempotency — rapid UI toggling never duplicates historical metrics.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0499" y="1371600"/>
            <a:ext cx="5116836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93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5091" y="1508760"/>
            <a:ext cx="47876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2. Compound Indexing &amp; Optimizations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5091" y="1810512"/>
            <a:ext cx="47876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Power real-time 30-day rolling charts and instant streak calculations.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7659" y="2121408"/>
            <a:ext cx="4842516" cy="2103120"/>
          </a:xfrm>
          <a:prstGeom prst="roundRect">
            <a:avLst/>
          </a:prstGeom>
          <a:solidFill>
            <a:srgbClr val="0A090C"/>
          </a:solidFill>
          <a:ln w="9525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6531" y="2212848"/>
            <a:ext cx="461391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4A4340"/>
                </a:solidFill>
                <a:latin typeface="Courier New"/>
              </a:defRPr>
            </a:pPr>
            <a:r>
              <a:t>-- Composite B-Tree Indexes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4A27A"/>
                </a:solidFill>
                <a:latin typeface="Courier New"/>
              </a:defRPr>
            </a:pPr>
            <a:r>
              <a:t>CREATE INDEX idx_logs_habit_date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4A27A"/>
                </a:solidFill>
                <a:latin typeface="Courier New"/>
              </a:defRPr>
            </a:pPr>
            <a:r>
              <a:t>  ON habit_logs(habit_id, date);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4A27A"/>
                </a:solidFill>
                <a:latin typeface="Courier New"/>
              </a:defRPr>
            </a:pPr>
            <a:r>
              <a:t>CREATE INDEX idx_logs_date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4A27A"/>
                </a:solidFill>
                <a:latin typeface="Courier New"/>
              </a:defRPr>
            </a:pPr>
            <a:r>
              <a:t>  ON habit_logs(date);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4A27A"/>
                </a:solidFill>
                <a:latin typeface="Courier New"/>
              </a:defRPr>
            </a:pPr>
            <a:r>
              <a:t>CREATE INDEX idx_insights_dismissed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4A27A"/>
                </a:solidFill>
                <a:latin typeface="Courier New"/>
              </a:defRPr>
            </a:pPr>
            <a:r>
              <a:t>  ON behavioral_insights(is_dismissed);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5091" y="4343400"/>
            <a:ext cx="47876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ON DELETE CASCADE — Deleting a habit auto-purges logs &amp; insights.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28-day heatmap loads in &lt;4ms from cold SQLite cache.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Background Services &amp; Android WorkManager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Battery-friendly autonomous streak protection within modern Android OS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340400"/>
          </a:solidFill>
          <a:ln w="7620">
            <a:solidFill>
              <a:srgbClr val="E8B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E8B86D"/>
                </a:solidFill>
                <a:latin typeface="Calibri"/>
              </a:defRPr>
            </a:pPr>
            <a:r>
              <a:t>Android System · Aman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Aman · C106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6051636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E8B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08760"/>
            <a:ext cx="57224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Android WorkManager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57224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Android 12+ restricts background execution via Doze mode &amp; App Standby. Traditional AlarmManager timers get killed by the 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5777316" cy="3611880"/>
          </a:xfrm>
          <a:prstGeom prst="roundRect">
            <a:avLst/>
          </a:prstGeom>
          <a:solidFill>
            <a:srgbClr val="0A090C"/>
          </a:solidFill>
          <a:ln w="9525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86000"/>
            <a:ext cx="5548716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0">
                <a:solidFill>
                  <a:srgbClr val="4A4340"/>
                </a:solidFill>
                <a:latin typeface="Courier New"/>
              </a:defRPr>
            </a:pPr>
            <a:r>
              <a:t>// Background Isolate Entry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F4A27A"/>
                </a:solidFill>
                <a:latin typeface="Courier New"/>
              </a:defRPr>
            </a:pPr>
            <a:r>
              <a:t>@pragma('vm:entry-point')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F4A27A"/>
                </a:solidFill>
                <a:latin typeface="Courier New"/>
              </a:defRPr>
            </a:pPr>
            <a:r>
              <a:t>void callbackDispatcher()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C4B8AB"/>
                </a:solidFill>
                <a:latin typeface="Courier New"/>
              </a:defRPr>
            </a:pPr>
            <a:r>
              <a:t>  Workmanager().executeTask((task, data) async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F4A27A"/>
                </a:solidFill>
                <a:latin typeface="Courier New"/>
              </a:defRPr>
            </a:pPr>
            <a:r>
              <a:t>    final db = DatabaseHelper.instance;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F4A27A"/>
                </a:solidFill>
                <a:latin typeface="Courier New"/>
              </a:defRPr>
            </a:pPr>
            <a:r>
              <a:t>    final pending = await db.getPendingHabitsToday();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C4B8AB"/>
                </a:solidFill>
                <a:latin typeface="Courier New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4A4340"/>
                </a:solidFill>
                <a:latin typeface="Courier New"/>
              </a:defRPr>
            </a:pPr>
            <a:r>
              <a:t>    // Streak defense: streak &gt;= 3 &amp; time &gt;= 18:00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F4A27A"/>
                </a:solidFill>
                <a:latin typeface="Courier New"/>
              </a:defRPr>
            </a:pPr>
            <a:r>
              <a:t>    if (now.hour &gt;= 18 &amp;&amp; pending.isNotEmpty)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F4A27A"/>
                </a:solidFill>
                <a:latin typeface="Courier New"/>
              </a:defRPr>
            </a:pPr>
            <a:r>
              <a:t>      await NotificationService.instance.show(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7ECBAC"/>
                </a:solidFill>
                <a:latin typeface="Courier New"/>
              </a:defRPr>
            </a:pPr>
            <a:r>
              <a:t>        title: '🛡️ Streak Defense Alert',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7ECBAC"/>
                </a:solidFill>
                <a:latin typeface="Courier New"/>
              </a:defRPr>
            </a:pPr>
            <a:r>
              <a:t>        body: 'Keep your momentum alive!',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C4B8AB"/>
                </a:solidFill>
                <a:latin typeface="Courier New"/>
              </a:defRPr>
            </a:pPr>
            <a:r>
              <a:t>      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C4B8AB"/>
                </a:solidFill>
                <a:latin typeface="Courier New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F4A27A"/>
                </a:solidFill>
                <a:latin typeface="Courier New"/>
              </a:defRPr>
            </a:pPr>
            <a:r>
              <a:t>    return Future.value(true);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C4B8AB"/>
                </a:solidFill>
                <a:latin typeface="Courier New"/>
              </a:defRPr>
            </a:pPr>
            <a:r>
              <a:t>  });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C4B8AB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0588" y="1371600"/>
            <a:ext cx="4786746" cy="256032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5180" y="1508760"/>
            <a:ext cx="445756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Notification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5180" y="1828800"/>
            <a:ext cx="445756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High-Importance Channel — habit_reminders_channel with custom vibration.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Android 13/14+ — graceful POST_NOTIFICATIONS runtime request.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Battery Constraints — NetworkType.not_required opportunistic mode.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0588" y="4096512"/>
            <a:ext cx="4786746" cy="2395728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5180" y="4233672"/>
            <a:ext cx="445756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Streak Defense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5180" y="4553712"/>
            <a:ext cx="445756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If an active streak of 3+ days has not been logged by 6:00 PM, the background worker triggers a high-urgency loss-aversion prompt — ensuring user momentum never collapses silently.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Rule-Based Behavioral Analytics Engine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Translating behavioral science into local deterministic heuristics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Behavioral Science · Arsh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Arsh · C109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2627299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93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65376"/>
            <a:ext cx="22981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F5F0EB"/>
                </a:solidFill>
                <a:latin typeface="Calibri"/>
              </a:defRPr>
            </a:pPr>
            <a:r>
              <a:t>1. Habit Stacking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9696"/>
            <a:ext cx="22981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James Clear — Atomic Habits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77440"/>
            <a:ext cx="2298115" cy="3694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00" b="0" i="0">
                <a:solidFill>
                  <a:srgbClr val="C4B8AB"/>
                </a:solidFill>
                <a:latin typeface="Calibri"/>
              </a:defRPr>
            </a:pPr>
            <a:r>
              <a:t>– Couples a struggling habit (&lt;60%) with an anchor habit (&gt;75%).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6181344"/>
            <a:ext cx="2298115" cy="256032"/>
          </a:xfrm>
          <a:prstGeom prst="roundRect">
            <a:avLst/>
          </a:prstGeom>
          <a:solidFill>
            <a:srgbClr val="9D3948"/>
          </a:solidFill>
          <a:ln w="6350">
            <a:solidFill>
              <a:srgbClr val="93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6219444"/>
            <a:ext cx="215181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1">
                <a:solidFill>
                  <a:srgbClr val="93C5E8"/>
                </a:solidFill>
                <a:latin typeface="Calibri"/>
              </a:defRPr>
            </a:pPr>
            <a:r>
              <a:t>"After Morning Espresso, do 5-min Journaling."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6251" y="1371600"/>
            <a:ext cx="2627299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E8B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843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843" y="1865376"/>
            <a:ext cx="22981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F5F0EB"/>
                </a:solidFill>
                <a:latin typeface="Calibri"/>
              </a:defRPr>
            </a:pPr>
            <a:r>
              <a:t>2. Weekend Slump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843" y="2139696"/>
            <a:ext cx="22981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BJ Fogg — Tiny Habits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843" y="2377440"/>
            <a:ext cx="2298115" cy="3694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00" b="0" i="0">
                <a:solidFill>
                  <a:srgbClr val="C4B8AB"/>
                </a:solidFill>
                <a:latin typeface="Calibri"/>
              </a:defRPr>
            </a:pPr>
            <a:r>
              <a:t>– Detects when weekend adherence drops &gt;25% vs weekdays.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0843" y="6181344"/>
            <a:ext cx="2298115" cy="256032"/>
          </a:xfrm>
          <a:prstGeom prst="roundRect">
            <a:avLst/>
          </a:prstGeom>
          <a:solidFill>
            <a:srgbClr val="F22C05"/>
          </a:solidFill>
          <a:ln w="6350">
            <a:solidFill>
              <a:srgbClr val="E8B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3995" y="6219444"/>
            <a:ext cx="215181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1">
                <a:solidFill>
                  <a:srgbClr val="E8B86D"/>
                </a:solidFill>
                <a:latin typeface="Calibri"/>
              </a:defRPr>
            </a:pPr>
            <a:r>
              <a:t>"Adopt a Minimum Viable Habit — reduce requirement by 75%."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143" y="1371600"/>
            <a:ext cx="2627299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2735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735" y="1865376"/>
            <a:ext cx="22981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F5F0EB"/>
                </a:solidFill>
                <a:latin typeface="Calibri"/>
              </a:defRPr>
            </a:pPr>
            <a:r>
              <a:t>3. Circadian Friction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2735" y="2139696"/>
            <a:ext cx="22981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Roy Baumeister — Ego Depletion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2735" y="2377440"/>
            <a:ext cx="2298115" cy="3694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00" b="0" i="0">
                <a:solidFill>
                  <a:srgbClr val="C4B8AB"/>
                </a:solidFill>
                <a:latin typeface="Calibri"/>
              </a:defRPr>
            </a:pPr>
            <a:r>
              <a:t>– Analyzes hourly timestamps to find energy depletion windows.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42735" y="6181344"/>
            <a:ext cx="2298115" cy="256032"/>
          </a:xfrm>
          <a:prstGeom prst="roundRect">
            <a:avLst/>
          </a:prstGeom>
          <a:solidFill>
            <a:srgbClr val="BD113B"/>
          </a:solidFill>
          <a:ln w="635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5887" y="6219444"/>
            <a:ext cx="215181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1">
                <a:solidFill>
                  <a:srgbClr val="B39DDB"/>
                </a:solidFill>
                <a:latin typeface="Calibri"/>
              </a:defRPr>
            </a:pPr>
            <a:r>
              <a:t>"Morning: 90% success. Evening: 65% failure. Shift timing."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035" y="1371600"/>
            <a:ext cx="2627299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627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627" y="1865376"/>
            <a:ext cx="22981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F5F0EB"/>
                </a:solidFill>
                <a:latin typeface="Calibri"/>
              </a:defRPr>
            </a:pPr>
            <a:r>
              <a:t>4. Never Miss Twice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627" y="2139696"/>
            <a:ext cx="22981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Identity Protection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627" y="2377440"/>
            <a:ext cx="2298115" cy="3694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00" b="0" i="0">
                <a:solidFill>
                  <a:srgbClr val="C4B8AB"/>
                </a:solidFill>
                <a:latin typeface="Calibri"/>
              </a:defRPr>
            </a:pPr>
            <a:r>
              <a:t>– Missing one day is an accident; two days begins a negative loop.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34627" y="6181344"/>
            <a:ext cx="2298115" cy="256032"/>
          </a:xfrm>
          <a:prstGeom prst="roundRect">
            <a:avLst/>
          </a:prstGeom>
          <a:solidFill>
            <a:srgbClr val="883F0C"/>
          </a:solidFill>
          <a:ln w="635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7779" y="6219444"/>
            <a:ext cx="215181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1">
                <a:solidFill>
                  <a:srgbClr val="7ECBAC"/>
                </a:solidFill>
                <a:latin typeface="Calibri"/>
              </a:defRPr>
            </a:pPr>
            <a:r>
              <a:t>"High-priority morning recovery intervention triggered."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User Interface &amp; Visual Progress Analytics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Material 3 dark design paired with hardware-accelerated fl_chart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UI &amp; Visuals · Arsh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Arsh · C109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93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1. Dashboard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Engineered for frictionless daily interactions.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Horizontal Date Strip — fast past/future navigation.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Daily Progress Ring — instant completion % indicator.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Flame Streak Badges — dynamic visual milestones.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Tactile Check-ins — one-tap + counter (+/-) support.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Mood Dialog — 1–5 score &amp; reflection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6882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1474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1474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2. Behavioral Insights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1474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Local AI coaching rendered as editorial cards.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1474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Habit Health Index — 0–100 overall consistency gauge.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Severity Tagging — Urgent / Warning / Suggestion.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Psychology Badges — identifies underlying science.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Actionable Experiments — explicit 2-minute micro-steps.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404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3996" y="153619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5F0E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1865376"/>
            <a:ext cx="322874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3. Analytics &amp; Heatmap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2139696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Hardware-accelerated metrics via fl_chart.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2377440"/>
            <a:ext cx="3228746" cy="3950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200"/>
              </a:spcBef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7-Day Bar Chart — daily completion percentages.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28-Day Heatmap — GitHub-style activity density grid.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Category Donut — Health, Deep Work, Mindfulness split.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Leaderboard — best streak records per habit.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5F0EB"/>
                </a:solidFill>
                <a:latin typeface="Georgia"/>
              </a:defRPr>
            </a:pPr>
            <a:r>
              <a:t>Verification, Challenges &amp; Future Roadmap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00" b="0" i="1">
                <a:solidFill>
                  <a:srgbClr val="7D7066"/>
                </a:solidFill>
                <a:latin typeface="Calibri"/>
              </a:defRPr>
            </a:pPr>
            <a:r>
              <a:t>Automated unit testing, technical hurdles overcome, and project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47472"/>
            <a:ext cx="1737360" cy="274320"/>
          </a:xfrm>
          <a:prstGeom prst="roundRect">
            <a:avLst/>
          </a:prstGeom>
          <a:solidFill>
            <a:srgbClr val="001700"/>
          </a:solidFill>
          <a:ln w="762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601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7ECBAC"/>
                </a:solidFill>
                <a:latin typeface="Calibri"/>
              </a:defRPr>
            </a:pPr>
            <a:r>
              <a:t>Conclusion · Arsh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737360" cy="274320"/>
          </a:xfrm>
          <a:prstGeom prst="roundRect">
            <a:avLst/>
          </a:prstGeom>
          <a:solidFill>
            <a:srgbClr val="000027"/>
          </a:solidFill>
          <a:ln w="762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69850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 i="0">
                <a:solidFill>
                  <a:srgbClr val="B39DDB"/>
                </a:solidFill>
                <a:latin typeface="Calibri"/>
              </a:defRPr>
            </a:pPr>
            <a:r>
              <a:t>Arsh · C109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2975" cy="9525"/>
          </a:xfrm>
          <a:prstGeom prst="rect">
            <a:avLst/>
          </a:prstGeom>
          <a:solidFill>
            <a:srgbClr val="2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7EC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08760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✅  Testing &amp;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322874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100% automated coverage across the engine and models: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21408"/>
            <a:ext cx="3283610" cy="3383280"/>
          </a:xfrm>
          <a:prstGeom prst="roundRect">
            <a:avLst/>
          </a:prstGeom>
          <a:solidFill>
            <a:srgbClr val="0A090C"/>
          </a:solidFill>
          <a:ln w="9525">
            <a:solidFill>
              <a:srgbClr val="2A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197608"/>
            <a:ext cx="305501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7ECBAC"/>
                </a:solidFill>
                <a:latin typeface="Courier New"/>
              </a:defRPr>
            </a:pPr>
            <a:r>
              <a:t>✓  Detects Streak-at-Risk      (≥3d, afternoon)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7ECBAC"/>
                </a:solidFill>
                <a:latin typeface="Courier New"/>
              </a:defRPr>
            </a:pPr>
            <a:r>
              <a:t>✓  Detects Habit Stacking      (&gt;75% &amp; &lt;60%)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7ECBAC"/>
                </a:solidFill>
                <a:latin typeface="Courier New"/>
              </a:defRPr>
            </a:pPr>
            <a:r>
              <a:t>✓  Detects Weekend Slump       (&gt;25% drop)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7ECBAC"/>
                </a:solidFill>
                <a:latin typeface="Courier New"/>
              </a:defRPr>
            </a:pPr>
            <a:r>
              <a:t>✓  Detects Circadian Timing    (Morning vs Eve)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7ECBAC"/>
                </a:solidFill>
                <a:latin typeface="Courier New"/>
              </a:defRPr>
            </a:pPr>
            <a:r>
              <a:t>✓  SQLite Model Serialization   (roundtrip)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7ECBAC"/>
                </a:solidFill>
                <a:latin typeface="Courier New"/>
              </a:defRPr>
            </a:pPr>
            <a:r>
              <a:t>✓  UI Tab Smoke Test            (All passed)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C4B8AB"/>
                </a:solidFill>
                <a:latin typeface="Courier New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F4A27A"/>
                </a:solidFill>
                <a:latin typeface="Courier New"/>
              </a:defRPr>
            </a:pPr>
            <a:r>
              <a:t>→  Result: 7/7 tests passed  ·  0 lint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6882" y="1371600"/>
            <a:ext cx="3557930" cy="5120640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E8B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1474" y="1508760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⚡  Technical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1474" y="1847088"/>
            <a:ext cx="3228746" cy="4498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WorkManager Background Isolation — Ensuring SQLite singletons could initialize in separate Dart isolates without crashing.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Custom Frequency Streaks — Handling alternate-day &amp; weekday-only habits without unfairly breaking streaks.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21-Day Demo Seeder — Generating realistic multi-week synthetic data for instant examiner evaluation with zero cloud dependency.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404" y="1371600"/>
            <a:ext cx="3557930" cy="3328416"/>
          </a:xfrm>
          <a:prstGeom prst="roundRect">
            <a:avLst/>
          </a:prstGeom>
          <a:solidFill>
            <a:srgbClr val="18151D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3996" y="1508760"/>
            <a:ext cx="322874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5F0EB"/>
                </a:solidFill>
                <a:latin typeface="Calibri"/>
              </a:defRPr>
            </a:pPr>
            <a:r>
              <a:t>🚀 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1847088"/>
            <a:ext cx="3228746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On-Device Quantized SLM — Gemma 2B via MediaPipe for conversational coaching, preserving full privacy.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850" b="0" i="0">
                <a:solidFill>
                  <a:srgbClr val="C4B8AB"/>
                </a:solidFill>
                <a:latin typeface="Calibri"/>
              </a:defRPr>
            </a:pPr>
            <a:r>
              <a:t>– Wear OS Companion — Direct watch check-ins via local Bluetooth, no internet required.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9404" y="4864608"/>
            <a:ext cx="3557930" cy="1627632"/>
          </a:xfrm>
          <a:prstGeom prst="roundRect">
            <a:avLst/>
          </a:prstGeom>
          <a:solidFill>
            <a:srgbClr val="1A1522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6564" y="5001768"/>
            <a:ext cx="328361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F5F0EB"/>
                </a:solidFill>
                <a:latin typeface="Calibri"/>
              </a:defRPr>
            </a:pPr>
            <a:r>
              <a:t>Soham (C096)  ·  Aman (C106)  ·  Arsh (C109)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850" b="0" i="1">
                <a:solidFill>
                  <a:srgbClr val="7D7066"/>
                </a:solidFill>
                <a:latin typeface="Calibri"/>
              </a:defRPr>
            </a:pPr>
            <a:r>
              <a:t>Thank you —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